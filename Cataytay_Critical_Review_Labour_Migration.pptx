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46a08a6-4e49-4a58-8500-5b57cb769aa5}">
          <p14:sldIdLst>
            <p14:sldId id="256"/>
            <p14:sldId id="257"/>
          </p14:sldIdLst>
        </p14:section>
        <p14:section name="Review" id="{5d3704bd-0298-2931-a614-46314ea6388b}">
          <p14:sldIdLst>
            <p14:sldId id="258"/>
            <p14:sldId id="259"/>
            <p14:sldId id="260"/>
            <p14:sldId id="261"/>
            <p14:sldId id="262"/>
            <p14:sldId id="263"/>
            <p14:sldId id="264"/>
            <p14:sldId id="265"/>
            <p14:sldId id="266"/>
          </p14:sldIdLst>
        </p14:section>
        <p14:section name="Conclusion" id="{ce59b530-e14a-4757-94c8-0b1ab605d184}">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3C49"/>
                </a:solidFill>
                <a:latin typeface="+mn-lt"/>
              </a:defRPr>
            </a:pPr>
            <a:r>
              <a:rPr sz="1200" b="0" i="0" u="none" strike="noStrike">
                <a:solidFill>
                  <a:srgbClr val="0B3C49"/>
                </a:solidFill>
                <a:latin typeface="+mn-lt"/>
              </a:rPr>
              <a:t>t-statistics, unrestricted ECM (Table 3)</a:t>
            </a:r>
          </a:p>
        </c:rich>
      </c:tx>
      <c:layout/>
      <c:overlay val="0"/>
    </c:title>
    <c:autoTitleDeleted val="0"/>
    <c:plotArea>
      <c:layout/>
      <c:barChart>
        <c:barDir val="bar"/>
        <c:grouping val="stacked"/>
        <c:varyColors val="0"/>
        <c:ser>
          <c:idx val="0"/>
          <c:order val="0"/>
          <c:tx>
            <c:strRef>
              <c:f>Sheet1!$B$1</c:f>
              <c:strCache>
                <c:ptCount val="1"/>
                <c:pt idx="0">
                  <c:v>Significant (5%)</c:v>
                </c:pt>
              </c:strCache>
            </c:strRef>
          </c:tx>
          <c:spPr>
            <a:solidFill>
              <a:srgbClr val="C8553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Adult literacy</c:v>
                  </c:pt>
                  <c:pt idx="1">
                    <c:v>Error correction term</c:v>
                  </c:pt>
                  <c:pt idx="2">
                    <c:v>Political instability</c:v>
                  </c:pt>
                  <c:pt idx="3">
                    <c:v>Population density</c:v>
                  </c:pt>
                  <c:pt idx="4">
                    <c:v>Inequality</c:v>
                  </c:pt>
                  <c:pt idx="5">
                    <c:v>Inflation rate</c:v>
                  </c:pt>
                  <c:pt idx="6">
                    <c:v>Cost of migration</c:v>
                  </c:pt>
                  <c:pt idx="7">
                    <c:v>Per capita income</c:v>
                  </c:pt>
                  <c:pt idx="8">
                    <c:v>Inequality²</c:v>
                  </c:pt>
                  <c:pt idx="9">
                    <c:v>Unemployment rate</c:v>
                  </c:pt>
                </c:lvl>
              </c:multiLvlStrCache>
            </c:multiLvlStrRef>
          </c:cat>
          <c:val>
            <c:numRef>
              <c:f>Sheet1!$B$2:$B$11</c:f>
              <c:numCache>
                <c:formatCode>General</c:formatCode>
                <c:ptCount val="10"/>
                <c:pt idx="0">
                  <c:v>-5.225</c:v>
                </c:pt>
                <c:pt idx="1">
                  <c:v>-4.224</c:v>
                </c:pt>
                <c:pt idx="2">
                  <c:v>-3.444</c:v>
                </c:pt>
                <c:pt idx="3">
                  <c:v>-2.756</c:v>
                </c:pt>
                <c:pt idx="4">
                  <c:v>0</c:v>
                </c:pt>
                <c:pt idx="5">
                  <c:v>0</c:v>
                </c:pt>
                <c:pt idx="6">
                  <c:v>0</c:v>
                </c:pt>
                <c:pt idx="7">
                  <c:v>0</c:v>
                </c:pt>
                <c:pt idx="8">
                  <c:v>0</c:v>
                </c:pt>
                <c:pt idx="9">
                  <c:v>4.629</c:v>
                </c:pt>
              </c:numCache>
            </c:numRef>
          </c:val>
        </c:ser>
        <c:ser>
          <c:idx val="1"/>
          <c:order val="1"/>
          <c:tx>
            <c:strRef>
              <c:f>Sheet1!$C$1</c:f>
              <c:strCache>
                <c:ptCount val="1"/>
                <c:pt idx="0">
                  <c:v>Not significant</c:v>
                </c:pt>
              </c:strCache>
            </c:strRef>
          </c:tx>
          <c:spPr>
            <a:solidFill>
              <a:srgbClr val="B8C4C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Adult literacy</c:v>
                  </c:pt>
                  <c:pt idx="1">
                    <c:v>Error correction term</c:v>
                  </c:pt>
                  <c:pt idx="2">
                    <c:v>Political instability</c:v>
                  </c:pt>
                  <c:pt idx="3">
                    <c:v>Population density</c:v>
                  </c:pt>
                  <c:pt idx="4">
                    <c:v>Inequality</c:v>
                  </c:pt>
                  <c:pt idx="5">
                    <c:v>Inflation rate</c:v>
                  </c:pt>
                  <c:pt idx="6">
                    <c:v>Cost of migration</c:v>
                  </c:pt>
                  <c:pt idx="7">
                    <c:v>Per capita income</c:v>
                  </c:pt>
                  <c:pt idx="8">
                    <c:v>Inequality²</c:v>
                  </c:pt>
                  <c:pt idx="9">
                    <c:v>Unemployment rate</c:v>
                  </c:pt>
                </c:lvl>
              </c:multiLvlStrCache>
            </c:multiLvlStrRef>
          </c:cat>
          <c:val>
            <c:numRef>
              <c:f>Sheet1!$C$2:$C$11</c:f>
              <c:numCache>
                <c:formatCode>General</c:formatCode>
                <c:ptCount val="10"/>
                <c:pt idx="0">
                  <c:v>0</c:v>
                </c:pt>
                <c:pt idx="1">
                  <c:v>0</c:v>
                </c:pt>
                <c:pt idx="2">
                  <c:v>0</c:v>
                </c:pt>
                <c:pt idx="3">
                  <c:v>0</c:v>
                </c:pt>
                <c:pt idx="4">
                  <c:v>-1.594</c:v>
                </c:pt>
                <c:pt idx="5">
                  <c:v>-1.327</c:v>
                </c:pt>
                <c:pt idx="6">
                  <c:v>-0.429</c:v>
                </c:pt>
                <c:pt idx="7">
                  <c:v>-0.293</c:v>
                </c:pt>
                <c:pt idx="8">
                  <c:v>1.323</c:v>
                </c:pt>
                <c:pt idx="9">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6"/>
          <c:min val="-6"/>
        </c:scaling>
        <c:delete val="0"/>
        <c:axPos val="b"/>
        <c:majorGridlines>
          <c:spPr>
            <a:ln w="6350" cap="flat">
              <a:solidFill>
                <a:srgbClr val="DDE3E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B84"/>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100">
              <a:solidFill>
                <a:srgbClr val="1B1F2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review covers Agbola and Acupan (2010), published in Economic Systems. The article asks which economic, demographic and political factors explain emigration from the Philippines between 1975 and 2005. I will walk through the six review components: problem, theory, data, methodology, findings, and areas for further research, and add my own critical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the Philippines is one of the largest remittance recipients in the world and has the third-largest diaspora. Remittances are often called the third pillar of development, next to FDI and overseas development assistance. That context is why the authors argue it matters to know what drives emigration.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clear and relevant. Critically, though, the gap is asserted rather than shown: the paper does not systematically review earlier Philippine migration studies, so we have to take the claim that determinants are 'not well established' largely on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authors admit there is no single unified theory of emigration. They borrow hypotheses from several theories and fit them into one macro equation, estimated from the Philippine side only. That is pragmatic, but it means the theory is used mainly to justify signs, not to derive a structural model. Destination-side pull factors are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data are secondary, national-level and annual, giving only 31 observations. Sources: the Commission on Filipinos Overseas and the National Statistical Coordination Board for migration and population; the IMF International Financial Statistics, Bangko Sentral ng Pilipinas and NSCB for macro data. Note that the paper does not say where the Gini series came from, even though Philippine Gini estimates are only published every few years, so interpolation is likely but undisclosed.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methods follow the standard sequence. First, they test for unit roots; all series are non-stationary in levels and stationary in first differences. Second, three cointegration tests confirm a long-run relationship. Third, they start with a general dynamic model and drop insignificant terms. Fourth, they estimate the final error correction model by OLS. Finally, they run diagnostic tests and the model passes them all. One concern: with up to eight cointegrating vectors, collapsing everything into a single error-correction term is a strong simplification.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the t-statistics from the paper's Table 3. Red bars are significant at the 5% level: unemployment pushes emigration up; adult literacy, political instability and population density pull it down. Grey bars, including income, inflation, migration cost and inequality, are not significant. The error correction term of about -0.78 shows fast adjustment back to the long-run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Unemployment is the clearest push factor. The literacy result is the paper's headline surprise, since human capital theory predicts the opposite. Political instability lowering emigration may reflect people staying for change. Population density working against emigration is counter-intuitive, and the authors themselves call for more research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insignificant variables matter as much as the significant ones. Income growth and inflation do not seem to drive emigration in the short run, and there is no evidence of a Roy-type selection effect. The authors conclude that the government should stop treating labour export as a stop-gap and invest in a domestic economy that can absorb its workers.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own assessment. Strengths: an important question, a careful econometric sequence, and transparent diagnostics. Weaknesses: the sample is very small for this many parameters; the proxies are crude, since literacy in the Philippines is already very high and barely varies; the model ignores demand from receiving countries, which historically drove Filipino labour migration; the explanation that migrants are unskilled conflicts with the evidence on professional outflows that the paper itself cites; and the Phillips–Perron result for income suggests it may not be I(1), which the authors gloss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authors flag data quality, the airfare proxy, the unexplained population-density result, and the speculative political-instability link. They explicitly call for more research on population density and for better migration statistics. Building on that, I suggest four directions: separate temporary and permanent migrants and look at skill composition; bring in destination pull factors with a bilateral panel; extend the sample and test for structural breaks; and use household micro-data such as the Survey on Overseas Filipinos to test whether education really reduces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paper gives useful first evidence on the domestic determinants of Philippine emigration and makes a clear policy case for strengthening the domestic labour market. Its methodological limits mean the findings, especially the literacy and population density results, should be treated as starting points for further research, not final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5544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ph idx="101" type="body" hasCustomPrompt="1"/>
          </p:nvPr>
        </p:nvSpPr>
        <p:spPr>
          <a:xfrm>
            <a:off x="548640" y="2971800"/>
            <a:ext cx="8046720" cy="914400"/>
          </a:xfrm>
          <a:prstGeom prst="rect">
            <a:avLst/>
          </a:prstGeom>
          <a:noFill/>
          <a:ln/>
        </p:spPr>
        <p:txBody>
          <a:bodyPr wrap="square" rtlCol="0"/>
          <a:lstStyle>
            <a:lvl1pPr indent="0" marL="0">
              <a:buNone/>
              <a:defRPr lang="en-US" sz="1600" dirty="0">
                <a:solidFill>
                  <a:schemeClr val="accent5"/>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143000" y="320040"/>
            <a:ext cx="7543800" cy="64008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457200" y="4754880"/>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Agbola &amp; Acupan (2010), Economic Systems 34, 386–396</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554480"/>
          </a:xfrm>
          <a:prstGeom prst="rect">
            <a:avLst/>
          </a:prstGeom>
          <a:noFill/>
          <a:ln/>
        </p:spPr>
        <p:txBody>
          <a:bodyPr wrap="square" lIns="0" tIns="0" rIns="0" bIns="0" rtlCol="0" anchor="b"/>
          <a:lstStyle/>
          <a:p>
            <a:pPr algn="l" indent="0" marL="0">
              <a:buNone/>
            </a:pPr>
            <a:r>
              <a:rPr lang="en-US" sz="3200" b="1" dirty="0">
                <a:solidFill>
                  <a:schemeClr val="bg1"/>
                </a:solidFill>
              </a:rPr>
              <a:t>Critical Review: An Empirical Analysis of International Labour Migration in the Philippines</a:t>
            </a:r>
            <a:endParaRPr lang="en-US" sz="3200" dirty="0"/>
          </a:p>
        </p:txBody>
      </p:sp>
      <p:sp>
        <p:nvSpPr>
          <p:cNvPr id="3" name="Text 0"/>
          <p:cNvSpPr/>
          <p:nvPr>
            <p:ph idx="101" type="body" hasCustomPrompt="1"/>
          </p:nvPr>
        </p:nvSpPr>
        <p:spPr>
          <a:xfrm>
            <a:off x="548640" y="2971800"/>
            <a:ext cx="8046720" cy="914400"/>
          </a:xfrm>
          <a:prstGeom prst="rect">
            <a:avLst/>
          </a:prstGeom>
          <a:noFill/>
          <a:ln/>
        </p:spPr>
        <p:txBody>
          <a:bodyPr wrap="square" lIns="0" tIns="0" rIns="0" bIns="0" rtlCol="0" anchor="t"/>
          <a:lstStyle/>
          <a:p>
            <a:pPr indent="0" marL="0">
              <a:buNone/>
            </a:pPr>
            <a:r>
              <a:rPr lang="en-US" sz="1600" dirty="0">
                <a:solidFill>
                  <a:schemeClr val="accent5"/>
                </a:solidFill>
              </a:rPr>
              <a:t>Agbola, F. W. &amp; Acupan, A. B. (2010) · Economic Systems, 34, 386–396</a:t>
            </a:r>
            <a:endParaRPr lang="en-US" sz="1600" dirty="0"/>
          </a:p>
          <a:p>
            <a:pPr indent="0" marL="0">
              <a:buNone/>
            </a:pPr>
            <a:r>
              <a:rPr lang="en-US" sz="1600" dirty="0">
                <a:solidFill>
                  <a:schemeClr val="accent5"/>
                </a:solidFill>
              </a:rPr>
              <a:t>Prepared by: Cataytay</a:t>
            </a:r>
            <a:endParaRPr lang="en-US" sz="1600" dirty="0"/>
          </a:p>
        </p:txBody>
      </p:sp>
      <p:pic>
        <p:nvPicPr>
          <p:cNvPr id="4" name="Plane icon" descr="preencoded.png">    </p:cNvPr>
          <p:cNvPicPr>
            <a:picLocks noChangeAspect="1"/>
          </p:cNvPicPr>
          <p:nvPr/>
        </p:nvPicPr>
        <p:blipFill>
          <a:blip r:embed="rId1"/>
          <a:stretch>
            <a:fillRect/>
          </a:stretch>
        </p:blipFill>
        <p:spPr>
          <a:xfrm>
            <a:off x="548640" y="548640"/>
            <a:ext cx="502920" cy="502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1143000" y="320040"/>
            <a:ext cx="7543800" cy="640080"/>
          </a:xfrm>
          <a:prstGeom prst="rect">
            <a:avLst/>
          </a:prstGeom>
          <a:noFill/>
          <a:ln/>
        </p:spPr>
        <p:txBody>
          <a:bodyPr wrap="square" lIns="0" tIns="0" rIns="0" bIns="0" rtlCol="0" anchor="ctr"/>
          <a:lstStyle/>
          <a:p>
            <a:pPr algn="l" indent="0" marL="0">
              <a:buNone/>
            </a:pPr>
            <a:r>
              <a:rPr lang="en-US" sz="2800" b="1" dirty="0">
                <a:solidFill>
                  <a:schemeClr val="tx2"/>
                </a:solidFill>
              </a:rPr>
              <a:t>The article at a glance</a:t>
            </a:r>
            <a:endParaRPr lang="en-US" sz="2800" dirty="0"/>
          </a:p>
        </p:txBody>
      </p:sp>
      <p:sp>
        <p:nvSpPr>
          <p:cNvPr id="3" name="Badge"/>
          <p:cNvSpPr/>
          <p:nvPr/>
        </p:nvSpPr>
        <p:spPr>
          <a:xfrm>
            <a:off x="457200" y="365760"/>
            <a:ext cx="548640" cy="548640"/>
          </a:xfrm>
          <a:prstGeom prst="ellipse">
            <a:avLst/>
          </a:prstGeom>
          <a:solidFill>
            <a:schemeClr val="accent1"/>
          </a:solidFill>
          <a:ln/>
        </p:spPr>
      </p:sp>
      <p:pic>
        <p:nvPicPr>
          <p:cNvPr id="4" name="Badge icon" descr="preencoded.png">    </p:cNvPr>
          <p:cNvPicPr>
            <a:picLocks noChangeAspect="1"/>
          </p:cNvPicPr>
          <p:nvPr/>
        </p:nvPicPr>
        <p:blipFill>
          <a:blip r:embed="rId1"/>
          <a:stretch>
            <a:fillRect/>
          </a:stretch>
        </p:blipFill>
        <p:spPr>
          <a:xfrm>
            <a:off x="594360" y="502920"/>
            <a:ext cx="274320" cy="274320"/>
          </a:xfrm>
          <a:prstGeom prst="rect">
            <a:avLst/>
          </a:prstGeom>
        </p:spPr>
      </p:pic>
      <p:sp>
        <p:nvSpPr>
          <p:cNvPr id="5" name="Stat 1"/>
          <p:cNvSpPr txBox="1"/>
          <p:nvPr/>
        </p:nvSpPr>
        <p:spPr>
          <a:xfrm>
            <a:off x="457200" y="1234440"/>
            <a:ext cx="2377440" cy="548640"/>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US$14.4B</a:t>
            </a:r>
            <a:endParaRPr lang="en-US" sz="3400" dirty="0"/>
          </a:p>
        </p:txBody>
      </p:sp>
      <p:sp>
        <p:nvSpPr>
          <p:cNvPr id="6" name="Stat label 1"/>
          <p:cNvSpPr txBox="1"/>
          <p:nvPr/>
        </p:nvSpPr>
        <p:spPr>
          <a:xfrm>
            <a:off x="457200" y="1783080"/>
            <a:ext cx="2926080" cy="411480"/>
          </a:xfrm>
          <a:prstGeom prst="rect">
            <a:avLst/>
          </a:prstGeom>
          <a:noFill/>
          <a:ln/>
        </p:spPr>
        <p:txBody>
          <a:bodyPr wrap="square" lIns="0" tIns="0" rIns="0" bIns="0" rtlCol="0" anchor="t"/>
          <a:lstStyle/>
          <a:p>
            <a:pPr indent="0" marL="0">
              <a:buNone/>
            </a:pPr>
            <a:r>
              <a:rPr lang="en-US" sz="1400" dirty="0">
                <a:solidFill>
                  <a:schemeClr val="accent4"/>
                </a:solidFill>
              </a:rPr>
              <a:t>official remittances to the Philippines in 2007</a:t>
            </a:r>
            <a:endParaRPr lang="en-US" sz="1400" dirty="0"/>
          </a:p>
        </p:txBody>
      </p:sp>
      <p:sp>
        <p:nvSpPr>
          <p:cNvPr id="7" name="Stat 2"/>
          <p:cNvSpPr txBox="1"/>
          <p:nvPr/>
        </p:nvSpPr>
        <p:spPr>
          <a:xfrm>
            <a:off x="457200" y="2350008"/>
            <a:ext cx="2377440" cy="548640"/>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8.2M</a:t>
            </a:r>
            <a:endParaRPr lang="en-US" sz="3400" dirty="0"/>
          </a:p>
        </p:txBody>
      </p:sp>
      <p:sp>
        <p:nvSpPr>
          <p:cNvPr id="8" name="Stat label 2"/>
          <p:cNvSpPr txBox="1"/>
          <p:nvPr/>
        </p:nvSpPr>
        <p:spPr>
          <a:xfrm>
            <a:off x="457200" y="2898648"/>
            <a:ext cx="2926080" cy="411480"/>
          </a:xfrm>
          <a:prstGeom prst="rect">
            <a:avLst/>
          </a:prstGeom>
          <a:noFill/>
          <a:ln/>
        </p:spPr>
        <p:txBody>
          <a:bodyPr wrap="square" lIns="0" tIns="0" rIns="0" bIns="0" rtlCol="0" anchor="t"/>
          <a:lstStyle/>
          <a:p>
            <a:pPr indent="0" marL="0">
              <a:buNone/>
            </a:pPr>
            <a:r>
              <a:rPr lang="en-US" sz="1400" dirty="0">
                <a:solidFill>
                  <a:schemeClr val="accent4"/>
                </a:solidFill>
              </a:rPr>
              <a:t>Filipinos living or working in 193+ countries</a:t>
            </a:r>
            <a:endParaRPr lang="en-US" sz="1400" dirty="0"/>
          </a:p>
        </p:txBody>
      </p:sp>
      <p:sp>
        <p:nvSpPr>
          <p:cNvPr id="9" name="Stat 3"/>
          <p:cNvSpPr txBox="1"/>
          <p:nvPr/>
        </p:nvSpPr>
        <p:spPr>
          <a:xfrm>
            <a:off x="457200" y="3465576"/>
            <a:ext cx="2377440" cy="548640"/>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31 years</a:t>
            </a:r>
            <a:endParaRPr lang="en-US" sz="3400" dirty="0"/>
          </a:p>
        </p:txBody>
      </p:sp>
      <p:sp>
        <p:nvSpPr>
          <p:cNvPr id="10" name="Stat label 3"/>
          <p:cNvSpPr txBox="1"/>
          <p:nvPr/>
        </p:nvSpPr>
        <p:spPr>
          <a:xfrm>
            <a:off x="457200" y="4014216"/>
            <a:ext cx="2926080" cy="411480"/>
          </a:xfrm>
          <a:prstGeom prst="rect">
            <a:avLst/>
          </a:prstGeom>
          <a:noFill/>
          <a:ln/>
        </p:spPr>
        <p:txBody>
          <a:bodyPr wrap="square" lIns="0" tIns="0" rIns="0" bIns="0" rtlCol="0" anchor="t"/>
          <a:lstStyle/>
          <a:p>
            <a:pPr indent="0" marL="0">
              <a:buNone/>
            </a:pPr>
            <a:r>
              <a:rPr lang="en-US" sz="1400" dirty="0">
                <a:solidFill>
                  <a:schemeClr val="accent4"/>
                </a:solidFill>
              </a:rPr>
              <a:t>of annual data analysed, 1975–2005</a:t>
            </a:r>
            <a:endParaRPr lang="en-US" sz="1400" dirty="0"/>
          </a:p>
        </p:txBody>
      </p:sp>
      <p:sp>
        <p:nvSpPr>
          <p:cNvPr id="11" name="Summary card"/>
          <p:cNvSpPr/>
          <p:nvPr/>
        </p:nvSpPr>
        <p:spPr>
          <a:xfrm>
            <a:off x="3931920" y="1234440"/>
            <a:ext cx="4754880" cy="3200400"/>
          </a:xfrm>
          <a:prstGeom prst="roundRect">
            <a:avLst>
              <a:gd name="adj" fmla="val 2286"/>
            </a:avLst>
          </a:prstGeom>
          <a:solidFill>
            <a:schemeClr val="bg2"/>
          </a:solidFill>
          <a:ln/>
        </p:spPr>
      </p:sp>
      <p:sp>
        <p:nvSpPr>
          <p:cNvPr id="12" name="Text 9"/>
          <p:cNvSpPr txBox="1"/>
          <p:nvPr/>
        </p:nvSpPr>
        <p:spPr>
          <a:xfrm>
            <a:off x="4206240" y="1463040"/>
            <a:ext cx="4206240" cy="365760"/>
          </a:xfrm>
          <a:prstGeom prst="rect">
            <a:avLst/>
          </a:prstGeom>
          <a:noFill/>
          <a:ln/>
        </p:spPr>
        <p:txBody>
          <a:bodyPr wrap="square" lIns="0" tIns="0" rIns="0" bIns="0" rtlCol="0" anchor="t"/>
          <a:lstStyle/>
          <a:p>
            <a:pPr indent="0" marL="0">
              <a:buNone/>
            </a:pPr>
            <a:r>
              <a:rPr lang="en-US" sz="1800" b="1" dirty="0">
                <a:solidFill>
                  <a:schemeClr val="tx2"/>
                </a:solidFill>
              </a:rPr>
              <a:t>The study in one sentence</a:t>
            </a:r>
            <a:endParaRPr lang="en-US" sz="1800" dirty="0"/>
          </a:p>
        </p:txBody>
      </p:sp>
      <p:sp>
        <p:nvSpPr>
          <p:cNvPr id="13" name="Text 10"/>
          <p:cNvSpPr txBox="1"/>
          <p:nvPr/>
        </p:nvSpPr>
        <p:spPr>
          <a:xfrm>
            <a:off x="4206240" y="1874520"/>
            <a:ext cx="4206240" cy="1188720"/>
          </a:xfrm>
          <a:prstGeom prst="rect">
            <a:avLst/>
          </a:prstGeom>
          <a:noFill/>
          <a:ln/>
        </p:spPr>
        <p:txBody>
          <a:bodyPr wrap="square" lIns="0" tIns="0" rIns="0" bIns="0" rtlCol="0" anchor="t"/>
          <a:lstStyle/>
          <a:p>
            <a:pPr indent="0" marL="0">
              <a:buNone/>
            </a:pPr>
            <a:r>
              <a:rPr lang="en-US" sz="1500" dirty="0">
                <a:solidFill>
                  <a:schemeClr val="tx1"/>
                </a:solidFill>
              </a:rPr>
              <a:t>Using an error correction model on 1975–2005 data, the authors test which domestic economic, demographic and political factors drive the share of Filipinos who emigrate.</a:t>
            </a:r>
            <a:endParaRPr lang="en-US" sz="1500" dirty="0"/>
          </a:p>
        </p:txBody>
      </p:sp>
      <p:sp>
        <p:nvSpPr>
          <p:cNvPr id="14" name="Text 11"/>
          <p:cNvSpPr txBox="1"/>
          <p:nvPr/>
        </p:nvSpPr>
        <p:spPr>
          <a:xfrm>
            <a:off x="4206240" y="3200400"/>
            <a:ext cx="4206240" cy="1005840"/>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Journal: </a:t>
            </a:r>
            <a:pPr indent="0" marL="0">
              <a:spcAft>
                <a:spcPts val="200"/>
              </a:spcAft>
              <a:buNone/>
            </a:pPr>
            <a:r>
              <a:rPr lang="en-US" sz="1400" dirty="0">
                <a:solidFill>
                  <a:schemeClr val="tx1"/>
                </a:solidFill>
              </a:rPr>
              <a:t>Economic Systems (Elsevier)</a:t>
            </a:r>
            <a:endParaRPr lang="en-US" sz="1400" dirty="0"/>
          </a:p>
          <a:p>
            <a:pPr indent="0" marL="0">
              <a:spcAft>
                <a:spcPts val="200"/>
              </a:spcAft>
              <a:buNone/>
            </a:pPr>
            <a:r>
              <a:rPr lang="en-US" sz="1400" b="1" dirty="0">
                <a:solidFill>
                  <a:schemeClr val="tx1"/>
                </a:solidFill>
              </a:rPr>
              <a:t>JEL: </a:t>
            </a:r>
            <a:pPr indent="0" marL="0">
              <a:spcAft>
                <a:spcPts val="200"/>
              </a:spcAft>
              <a:buNone/>
            </a:pPr>
            <a:r>
              <a:rPr lang="en-US" sz="1400" dirty="0">
                <a:solidFill>
                  <a:schemeClr val="tx1"/>
                </a:solidFill>
              </a:rPr>
              <a:t>F20, F22, J61, J68</a:t>
            </a:r>
            <a:endParaRPr lang="en-US" sz="1400" dirty="0"/>
          </a:p>
          <a:p>
            <a:pPr indent="0" marL="0">
              <a:spcAft>
                <a:spcPts val="200"/>
              </a:spcAft>
              <a:buNone/>
            </a:pPr>
            <a:r>
              <a:rPr lang="en-US" sz="1400" b="1" dirty="0">
                <a:solidFill>
                  <a:schemeClr val="tx1"/>
                </a:solidFill>
              </a:rPr>
              <a:t>Keywords: </a:t>
            </a:r>
            <a:pPr indent="0" marL="0">
              <a:spcAft>
                <a:spcPts val="200"/>
              </a:spcAft>
              <a:buNone/>
            </a:pPr>
            <a:r>
              <a:rPr lang="en-US" sz="1400" dirty="0">
                <a:solidFill>
                  <a:schemeClr val="tx1"/>
                </a:solidFill>
              </a:rPr>
              <a:t>labour migration, unit root, cointegration, ECM</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1143000" y="320040"/>
            <a:ext cx="7543800" cy="640080"/>
          </a:xfrm>
          <a:prstGeom prst="rect">
            <a:avLst/>
          </a:prstGeom>
          <a:noFill/>
          <a:ln/>
        </p:spPr>
        <p:txBody>
          <a:bodyPr wrap="square" lIns="0" tIns="0" rIns="0" bIns="0" rtlCol="0" anchor="ctr"/>
          <a:lstStyle/>
          <a:p>
            <a:pPr algn="l" indent="0" marL="0">
              <a:buNone/>
            </a:pPr>
            <a:r>
              <a:rPr lang="en-US" sz="2800" b="1" dirty="0">
                <a:solidFill>
                  <a:schemeClr val="tx2"/>
                </a:solidFill>
              </a:rPr>
              <a:t>Research problem and gap</a:t>
            </a:r>
            <a:endParaRPr lang="en-US" sz="2800" dirty="0"/>
          </a:p>
        </p:txBody>
      </p:sp>
      <p:sp>
        <p:nvSpPr>
          <p:cNvPr id="3" name="Badge"/>
          <p:cNvSpPr/>
          <p:nvPr/>
        </p:nvSpPr>
        <p:spPr>
          <a:xfrm>
            <a:off x="457200" y="365760"/>
            <a:ext cx="548640" cy="548640"/>
          </a:xfrm>
          <a:prstGeom prst="ellipse">
            <a:avLst/>
          </a:prstGeom>
          <a:solidFill>
            <a:schemeClr val="accent1"/>
          </a:solidFill>
          <a:ln/>
        </p:spPr>
      </p:sp>
      <p:sp>
        <p:nvSpPr>
          <p:cNvPr id="4" name="Badge number"/>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2200" b="1" dirty="0">
                <a:solidFill>
                  <a:schemeClr val="tx2"/>
                </a:solidFill>
              </a:rPr>
              <a:t>1</a:t>
            </a:r>
            <a:endParaRPr lang="en-US" sz="2200" dirty="0"/>
          </a:p>
        </p:txBody>
      </p:sp>
      <p:sp>
        <p:nvSpPr>
          <p:cNvPr id="5" name="Issue card"/>
          <p:cNvSpPr/>
          <p:nvPr/>
        </p:nvSpPr>
        <p:spPr>
          <a:xfrm>
            <a:off x="457200" y="1188720"/>
            <a:ext cx="3977640" cy="2331720"/>
          </a:xfrm>
          <a:prstGeom prst="roundRect">
            <a:avLst>
              <a:gd name="adj" fmla="val 3137"/>
            </a:avLst>
          </a:prstGeom>
          <a:solidFill>
            <a:schemeClr val="bg2"/>
          </a:solidFill>
          <a:ln/>
        </p:spPr>
      </p:sp>
      <p:sp>
        <p:nvSpPr>
          <p:cNvPr id="6" name="Text 4"/>
          <p:cNvSpPr txBox="1"/>
          <p:nvPr/>
        </p:nvSpPr>
        <p:spPr>
          <a:xfrm>
            <a:off x="731520" y="1325880"/>
            <a:ext cx="3474720" cy="365760"/>
          </a:xfrm>
          <a:prstGeom prst="rect">
            <a:avLst/>
          </a:prstGeom>
          <a:noFill/>
          <a:ln/>
        </p:spPr>
        <p:txBody>
          <a:bodyPr wrap="square" lIns="0" tIns="0" rIns="0" bIns="0" rtlCol="0" anchor="t"/>
          <a:lstStyle/>
          <a:p>
            <a:pPr indent="0" marL="0">
              <a:buNone/>
            </a:pPr>
            <a:r>
              <a:rPr lang="en-US" sz="1800" b="1" dirty="0">
                <a:solidFill>
                  <a:schemeClr val="tx2"/>
                </a:solidFill>
              </a:rPr>
              <a:t>The issue</a:t>
            </a:r>
            <a:endParaRPr lang="en-US" sz="1800" dirty="0"/>
          </a:p>
        </p:txBody>
      </p:sp>
      <p:sp>
        <p:nvSpPr>
          <p:cNvPr id="7" name="Text 5"/>
          <p:cNvSpPr txBox="1"/>
          <p:nvPr/>
        </p:nvSpPr>
        <p:spPr>
          <a:xfrm>
            <a:off x="731520" y="1737360"/>
            <a:ext cx="3520440" cy="16916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Labour export started in the 1970s as a stop-gap fix for unemployment and a balance-of-payments crisis</a:t>
            </a:r>
            <a:endParaRPr lang="en-US" sz="1400" dirty="0"/>
          </a:p>
          <a:p>
            <a:pPr marL="342900" indent="-342900">
              <a:spcAft>
                <a:spcPts val="500"/>
              </a:spcAft>
              <a:buSzPct val="100000"/>
              <a:buChar char="•"/>
            </a:pPr>
            <a:r>
              <a:rPr lang="en-US" sz="1400" dirty="0">
                <a:solidFill>
                  <a:schemeClr val="tx1"/>
                </a:solidFill>
              </a:rPr>
              <a:t>It is now a permanent part of the economy, but policy is ambiguous: RA 8042 says the State “does not promote” overseas work, yet deployment “shall be encouraged”</a:t>
            </a:r>
            <a:endParaRPr lang="en-US" sz="1400" dirty="0"/>
          </a:p>
        </p:txBody>
      </p:sp>
      <p:sp>
        <p:nvSpPr>
          <p:cNvPr id="8" name="Gap card"/>
          <p:cNvSpPr/>
          <p:nvPr/>
        </p:nvSpPr>
        <p:spPr>
          <a:xfrm>
            <a:off x="4709160" y="1188720"/>
            <a:ext cx="3977640" cy="2331720"/>
          </a:xfrm>
          <a:prstGeom prst="roundRect">
            <a:avLst>
              <a:gd name="adj" fmla="val 3137"/>
            </a:avLst>
          </a:prstGeom>
          <a:solidFill>
            <a:schemeClr val="bg2"/>
          </a:solidFill>
          <a:ln/>
        </p:spPr>
      </p:sp>
      <p:sp>
        <p:nvSpPr>
          <p:cNvPr id="9" name="Text 7"/>
          <p:cNvSpPr txBox="1"/>
          <p:nvPr/>
        </p:nvSpPr>
        <p:spPr>
          <a:xfrm>
            <a:off x="4983480" y="1325880"/>
            <a:ext cx="3474720" cy="365760"/>
          </a:xfrm>
          <a:prstGeom prst="rect">
            <a:avLst/>
          </a:prstGeom>
          <a:noFill/>
          <a:ln/>
        </p:spPr>
        <p:txBody>
          <a:bodyPr wrap="square" lIns="0" tIns="0" rIns="0" bIns="0" rtlCol="0" anchor="t"/>
          <a:lstStyle/>
          <a:p>
            <a:pPr indent="0" marL="0">
              <a:buNone/>
            </a:pPr>
            <a:r>
              <a:rPr lang="en-US" sz="1800" b="1" dirty="0">
                <a:solidFill>
                  <a:schemeClr val="tx2"/>
                </a:solidFill>
              </a:rPr>
              <a:t>The knowledge gap</a:t>
            </a:r>
            <a:endParaRPr lang="en-US" sz="1800" dirty="0"/>
          </a:p>
        </p:txBody>
      </p:sp>
      <p:sp>
        <p:nvSpPr>
          <p:cNvPr id="10" name="Text 8"/>
          <p:cNvSpPr txBox="1"/>
          <p:nvPr/>
        </p:nvSpPr>
        <p:spPr>
          <a:xfrm>
            <a:off x="4983480" y="1737360"/>
            <a:ext cx="3520440" cy="16916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What determines emigration from the Philippines “is not well established”</a:t>
            </a:r>
            <a:endParaRPr lang="en-US" sz="1400" dirty="0"/>
          </a:p>
          <a:p>
            <a:pPr marL="342900" indent="-342900">
              <a:spcAft>
                <a:spcPts val="500"/>
              </a:spcAft>
              <a:buSzPct val="100000"/>
              <a:buChar char="•"/>
            </a:pPr>
            <a:r>
              <a:rPr lang="en-US" sz="1400" dirty="0">
                <a:solidFill>
                  <a:schemeClr val="tx1"/>
                </a:solidFill>
              </a:rPr>
              <a:t>Policymakers lack country-specific, long-run evidence on which domestic factors push Filipinos abroad</a:t>
            </a:r>
            <a:endParaRPr lang="en-US" sz="1400" dirty="0"/>
          </a:p>
        </p:txBody>
      </p:sp>
      <p:sp>
        <p:nvSpPr>
          <p:cNvPr id="11" name="Research question"/>
          <p:cNvSpPr/>
          <p:nvPr/>
        </p:nvSpPr>
        <p:spPr>
          <a:xfrm>
            <a:off x="457200" y="3703320"/>
            <a:ext cx="8229600" cy="868680"/>
          </a:xfrm>
          <a:prstGeom prst="roundRect">
            <a:avLst>
              <a:gd name="adj" fmla="val 8421"/>
            </a:avLst>
          </a:prstGeom>
          <a:solidFill>
            <a:schemeClr val="tx2"/>
          </a:solidFill>
          <a:ln/>
        </p:spPr>
      </p:sp>
      <p:sp>
        <p:nvSpPr>
          <p:cNvPr id="12" name="Text 10"/>
          <p:cNvSpPr txBox="1"/>
          <p:nvPr/>
        </p:nvSpPr>
        <p:spPr>
          <a:xfrm>
            <a:off x="731520" y="3703320"/>
            <a:ext cx="7680960" cy="868680"/>
          </a:xfrm>
          <a:prstGeom prst="rect">
            <a:avLst/>
          </a:prstGeom>
          <a:noFill/>
          <a:ln/>
        </p:spPr>
        <p:txBody>
          <a:bodyPr wrap="square" lIns="0" tIns="0" rIns="0" bIns="0" rtlCol="0" anchor="ctr"/>
          <a:lstStyle/>
          <a:p>
            <a:pPr indent="0" marL="0">
              <a:buNone/>
            </a:pPr>
            <a:r>
              <a:rPr lang="en-US" sz="1500" b="1" dirty="0">
                <a:solidFill>
                  <a:schemeClr val="accent1"/>
                </a:solidFill>
              </a:rPr>
              <a:t>Research question: </a:t>
            </a:r>
            <a:pPr indent="0" marL="0">
              <a:buNone/>
            </a:pPr>
            <a:r>
              <a:rPr lang="en-US" sz="1500" dirty="0">
                <a:solidFill>
                  <a:schemeClr val="bg1"/>
                </a:solidFill>
              </a:rPr>
              <a:t>How do economic, demographic and political factors affect the size of emigration from the Philippines?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1143000" y="320040"/>
            <a:ext cx="7543800" cy="640080"/>
          </a:xfrm>
          <a:prstGeom prst="rect">
            <a:avLst/>
          </a:prstGeom>
          <a:noFill/>
          <a:ln/>
        </p:spPr>
        <p:txBody>
          <a:bodyPr wrap="square" lIns="0" tIns="0" rIns="0" bIns="0" rtlCol="0" anchor="ctr"/>
          <a:lstStyle/>
          <a:p>
            <a:pPr algn="l" indent="0" marL="0">
              <a:buNone/>
            </a:pPr>
            <a:r>
              <a:rPr lang="en-US" sz="2800" b="1" dirty="0">
                <a:solidFill>
                  <a:schemeClr val="tx2"/>
                </a:solidFill>
              </a:rPr>
              <a:t>Theoretical framework</a:t>
            </a:r>
            <a:endParaRPr lang="en-US" sz="2800" dirty="0"/>
          </a:p>
        </p:txBody>
      </p:sp>
      <p:sp>
        <p:nvSpPr>
          <p:cNvPr id="3" name="Badge"/>
          <p:cNvSpPr/>
          <p:nvPr/>
        </p:nvSpPr>
        <p:spPr>
          <a:xfrm>
            <a:off x="457200" y="365760"/>
            <a:ext cx="548640" cy="548640"/>
          </a:xfrm>
          <a:prstGeom prst="ellipse">
            <a:avLst/>
          </a:prstGeom>
          <a:solidFill>
            <a:schemeClr val="accent1"/>
          </a:solidFill>
          <a:ln/>
        </p:spPr>
      </p:sp>
      <p:sp>
        <p:nvSpPr>
          <p:cNvPr id="4" name="Badge number"/>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2200" b="1" dirty="0">
                <a:solidFill>
                  <a:schemeClr val="tx2"/>
                </a:solidFill>
              </a:rPr>
              <a:t>2</a:t>
            </a:r>
            <a:endParaRPr lang="en-US" sz="2200" dirty="0"/>
          </a:p>
        </p:txBody>
      </p:sp>
      <p:sp>
        <p:nvSpPr>
          <p:cNvPr id="5" name="Theory dot 1"/>
          <p:cNvSpPr/>
          <p:nvPr/>
        </p:nvSpPr>
        <p:spPr>
          <a:xfrm>
            <a:off x="457200" y="1280160"/>
            <a:ext cx="457200" cy="457200"/>
          </a:xfrm>
          <a:prstGeom prst="ellipse">
            <a:avLst/>
          </a:prstGeom>
          <a:solidFill>
            <a:schemeClr val="tx2"/>
          </a:solidFill>
          <a:ln/>
        </p:spPr>
      </p:sp>
      <p:sp>
        <p:nvSpPr>
          <p:cNvPr id="6" name="Text 4"/>
          <p:cNvSpPr txBox="1"/>
          <p:nvPr/>
        </p:nvSpPr>
        <p:spPr>
          <a:xfrm>
            <a:off x="457200" y="1280160"/>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7" name="Text 5"/>
          <p:cNvSpPr txBox="1"/>
          <p:nvPr/>
        </p:nvSpPr>
        <p:spPr>
          <a:xfrm>
            <a:off x="1097280" y="1188720"/>
            <a:ext cx="3749040" cy="301752"/>
          </a:xfrm>
          <a:prstGeom prst="rect">
            <a:avLst/>
          </a:prstGeom>
          <a:noFill/>
          <a:ln/>
        </p:spPr>
        <p:txBody>
          <a:bodyPr wrap="square" lIns="0" tIns="0" rIns="0" bIns="0" rtlCol="0" anchor="t"/>
          <a:lstStyle/>
          <a:p>
            <a:pPr indent="0" marL="0">
              <a:buNone/>
            </a:pPr>
            <a:r>
              <a:rPr lang="en-US" sz="1500" b="1" dirty="0">
                <a:solidFill>
                  <a:schemeClr val="tx2"/>
                </a:solidFill>
              </a:rPr>
              <a:t>Ravenstein (1885); Todaro (1969)</a:t>
            </a:r>
            <a:endParaRPr lang="en-US" sz="1500" dirty="0"/>
          </a:p>
        </p:txBody>
      </p:sp>
      <p:sp>
        <p:nvSpPr>
          <p:cNvPr id="8" name="Text 6"/>
          <p:cNvSpPr txBox="1"/>
          <p:nvPr/>
        </p:nvSpPr>
        <p:spPr>
          <a:xfrm>
            <a:off x="1097280" y="1490472"/>
            <a:ext cx="3749040" cy="457200"/>
          </a:xfrm>
          <a:prstGeom prst="rect">
            <a:avLst/>
          </a:prstGeom>
          <a:noFill/>
          <a:ln/>
        </p:spPr>
        <p:txBody>
          <a:bodyPr wrap="square" lIns="0" tIns="0" rIns="0" bIns="0" rtlCol="0" anchor="t"/>
          <a:lstStyle/>
          <a:p>
            <a:pPr indent="0" marL="0">
              <a:buNone/>
            </a:pPr>
            <a:r>
              <a:rPr lang="en-US" sz="1400" dirty="0">
                <a:solidFill>
                  <a:schemeClr val="tx1"/>
                </a:solidFill>
              </a:rPr>
              <a:t>People move to ‘better’ themselves: migration maximises expected utility</a:t>
            </a:r>
            <a:endParaRPr lang="en-US" sz="1400" dirty="0"/>
          </a:p>
        </p:txBody>
      </p:sp>
      <p:sp>
        <p:nvSpPr>
          <p:cNvPr id="9" name="Theory dot 2"/>
          <p:cNvSpPr/>
          <p:nvPr/>
        </p:nvSpPr>
        <p:spPr>
          <a:xfrm>
            <a:off x="457200" y="2130552"/>
            <a:ext cx="457200" cy="457200"/>
          </a:xfrm>
          <a:prstGeom prst="ellipse">
            <a:avLst/>
          </a:prstGeom>
          <a:solidFill>
            <a:schemeClr val="tx2"/>
          </a:solidFill>
          <a:ln/>
        </p:spPr>
      </p:sp>
      <p:sp>
        <p:nvSpPr>
          <p:cNvPr id="10" name="Text 8"/>
          <p:cNvSpPr txBox="1"/>
          <p:nvPr/>
        </p:nvSpPr>
        <p:spPr>
          <a:xfrm>
            <a:off x="457200" y="2130552"/>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11" name="Text 9"/>
          <p:cNvSpPr txBox="1"/>
          <p:nvPr/>
        </p:nvSpPr>
        <p:spPr>
          <a:xfrm>
            <a:off x="1097280" y="2039112"/>
            <a:ext cx="3749040" cy="301752"/>
          </a:xfrm>
          <a:prstGeom prst="rect">
            <a:avLst/>
          </a:prstGeom>
          <a:noFill/>
          <a:ln/>
        </p:spPr>
        <p:txBody>
          <a:bodyPr wrap="square" lIns="0" tIns="0" rIns="0" bIns="0" rtlCol="0" anchor="t"/>
          <a:lstStyle/>
          <a:p>
            <a:pPr indent="0" marL="0">
              <a:buNone/>
            </a:pPr>
            <a:r>
              <a:rPr lang="en-US" sz="1500" b="1" dirty="0">
                <a:solidFill>
                  <a:schemeClr val="tx2"/>
                </a:solidFill>
              </a:rPr>
              <a:t>Human capital (Hicks 1939; Sjaastad 1962)</a:t>
            </a:r>
            <a:endParaRPr lang="en-US" sz="1500" dirty="0"/>
          </a:p>
        </p:txBody>
      </p:sp>
      <p:sp>
        <p:nvSpPr>
          <p:cNvPr id="12" name="Text 10"/>
          <p:cNvSpPr txBox="1"/>
          <p:nvPr/>
        </p:nvSpPr>
        <p:spPr>
          <a:xfrm>
            <a:off x="1097280" y="2340864"/>
            <a:ext cx="3749040" cy="457200"/>
          </a:xfrm>
          <a:prstGeom prst="rect">
            <a:avLst/>
          </a:prstGeom>
          <a:noFill/>
          <a:ln/>
        </p:spPr>
        <p:txBody>
          <a:bodyPr wrap="square" lIns="0" tIns="0" rIns="0" bIns="0" rtlCol="0" anchor="t"/>
          <a:lstStyle/>
          <a:p>
            <a:pPr indent="0" marL="0">
              <a:buNone/>
            </a:pPr>
            <a:r>
              <a:rPr lang="en-US" sz="1400" dirty="0">
                <a:solidFill>
                  <a:schemeClr val="tx1"/>
                </a:solidFill>
              </a:rPr>
              <a:t>Migration is an investment; more education → more migration</a:t>
            </a:r>
            <a:endParaRPr lang="en-US" sz="1400" dirty="0"/>
          </a:p>
        </p:txBody>
      </p:sp>
      <p:sp>
        <p:nvSpPr>
          <p:cNvPr id="13" name="Theory dot 3"/>
          <p:cNvSpPr/>
          <p:nvPr/>
        </p:nvSpPr>
        <p:spPr>
          <a:xfrm>
            <a:off x="457200" y="2980944"/>
            <a:ext cx="457200" cy="457200"/>
          </a:xfrm>
          <a:prstGeom prst="ellipse">
            <a:avLst/>
          </a:prstGeom>
          <a:solidFill>
            <a:schemeClr val="tx2"/>
          </a:solidFill>
          <a:ln/>
        </p:spPr>
      </p:sp>
      <p:sp>
        <p:nvSpPr>
          <p:cNvPr id="14" name="Text 12"/>
          <p:cNvSpPr txBox="1"/>
          <p:nvPr/>
        </p:nvSpPr>
        <p:spPr>
          <a:xfrm>
            <a:off x="457200" y="2980944"/>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15" name="Text 13"/>
          <p:cNvSpPr txBox="1"/>
          <p:nvPr/>
        </p:nvSpPr>
        <p:spPr>
          <a:xfrm>
            <a:off x="1097280" y="2889504"/>
            <a:ext cx="3749040" cy="301752"/>
          </a:xfrm>
          <a:prstGeom prst="rect">
            <a:avLst/>
          </a:prstGeom>
          <a:noFill/>
          <a:ln/>
        </p:spPr>
        <p:txBody>
          <a:bodyPr wrap="square" lIns="0" tIns="0" rIns="0" bIns="0" rtlCol="0" anchor="t"/>
          <a:lstStyle/>
          <a:p>
            <a:pPr indent="0" marL="0">
              <a:buNone/>
            </a:pPr>
            <a:r>
              <a:rPr lang="en-US" sz="1500" b="1" dirty="0">
                <a:solidFill>
                  <a:schemeClr val="tx2"/>
                </a:solidFill>
              </a:rPr>
              <a:t>Roy effect / self-selection (Borjas 1987)</a:t>
            </a:r>
            <a:endParaRPr lang="en-US" sz="1500" dirty="0"/>
          </a:p>
        </p:txBody>
      </p:sp>
      <p:sp>
        <p:nvSpPr>
          <p:cNvPr id="16" name="Text 14"/>
          <p:cNvSpPr txBox="1"/>
          <p:nvPr/>
        </p:nvSpPr>
        <p:spPr>
          <a:xfrm>
            <a:off x="1097280" y="3191256"/>
            <a:ext cx="3749040" cy="457200"/>
          </a:xfrm>
          <a:prstGeom prst="rect">
            <a:avLst/>
          </a:prstGeom>
          <a:noFill/>
          <a:ln/>
        </p:spPr>
        <p:txBody>
          <a:bodyPr wrap="square" lIns="0" tIns="0" rIns="0" bIns="0" rtlCol="0" anchor="t"/>
          <a:lstStyle/>
          <a:p>
            <a:pPr indent="0" marL="0">
              <a:buNone/>
            </a:pPr>
            <a:r>
              <a:rPr lang="en-US" sz="1400" dirty="0">
                <a:solidFill>
                  <a:schemeClr val="tx1"/>
                </a:solidFill>
              </a:rPr>
              <a:t>Income inequality shapes which skill groups leave</a:t>
            </a:r>
            <a:endParaRPr lang="en-US" sz="1400" dirty="0"/>
          </a:p>
        </p:txBody>
      </p:sp>
      <p:sp>
        <p:nvSpPr>
          <p:cNvPr id="17" name="Theory dot 4"/>
          <p:cNvSpPr/>
          <p:nvPr/>
        </p:nvSpPr>
        <p:spPr>
          <a:xfrm>
            <a:off x="457200" y="3831336"/>
            <a:ext cx="457200" cy="457200"/>
          </a:xfrm>
          <a:prstGeom prst="ellipse">
            <a:avLst/>
          </a:prstGeom>
          <a:solidFill>
            <a:schemeClr val="tx2"/>
          </a:solidFill>
          <a:ln/>
        </p:spPr>
      </p:sp>
      <p:sp>
        <p:nvSpPr>
          <p:cNvPr id="18" name="Text 16"/>
          <p:cNvSpPr txBox="1"/>
          <p:nvPr/>
        </p:nvSpPr>
        <p:spPr>
          <a:xfrm>
            <a:off x="457200" y="3831336"/>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4</a:t>
            </a:r>
            <a:endParaRPr lang="en-US" sz="1600" dirty="0"/>
          </a:p>
        </p:txBody>
      </p:sp>
      <p:sp>
        <p:nvSpPr>
          <p:cNvPr id="19" name="Text 17"/>
          <p:cNvSpPr txBox="1"/>
          <p:nvPr/>
        </p:nvSpPr>
        <p:spPr>
          <a:xfrm>
            <a:off x="1097280" y="3739896"/>
            <a:ext cx="3749040" cy="301752"/>
          </a:xfrm>
          <a:prstGeom prst="rect">
            <a:avLst/>
          </a:prstGeom>
          <a:noFill/>
          <a:ln/>
        </p:spPr>
        <p:txBody>
          <a:bodyPr wrap="square" lIns="0" tIns="0" rIns="0" bIns="0" rtlCol="0" anchor="t"/>
          <a:lstStyle/>
          <a:p>
            <a:pPr indent="0" marL="0">
              <a:buNone/>
            </a:pPr>
            <a:r>
              <a:rPr lang="en-US" sz="1500" b="1" dirty="0">
                <a:solidFill>
                  <a:schemeClr val="tx2"/>
                </a:solidFill>
              </a:rPr>
              <a:t>Gravity model (Greenwood 1975)</a:t>
            </a:r>
            <a:endParaRPr lang="en-US" sz="1500" dirty="0"/>
          </a:p>
        </p:txBody>
      </p:sp>
      <p:sp>
        <p:nvSpPr>
          <p:cNvPr id="20" name="Text 18"/>
          <p:cNvSpPr txBox="1"/>
          <p:nvPr/>
        </p:nvSpPr>
        <p:spPr>
          <a:xfrm>
            <a:off x="1097280" y="4041648"/>
            <a:ext cx="3749040" cy="457200"/>
          </a:xfrm>
          <a:prstGeom prst="rect">
            <a:avLst/>
          </a:prstGeom>
          <a:noFill/>
          <a:ln/>
        </p:spPr>
        <p:txBody>
          <a:bodyPr wrap="square" lIns="0" tIns="0" rIns="0" bIns="0" rtlCol="0" anchor="t"/>
          <a:lstStyle/>
          <a:p>
            <a:pPr indent="0" marL="0">
              <a:buNone/>
            </a:pPr>
            <a:r>
              <a:rPr lang="en-US" sz="1400" dirty="0">
                <a:solidFill>
                  <a:schemeClr val="tx1"/>
                </a:solidFill>
              </a:rPr>
              <a:t>Reduced-form demand–supply model with income, population and costs</a:t>
            </a:r>
            <a:endParaRPr lang="en-US" sz="1400" dirty="0"/>
          </a:p>
        </p:txBody>
      </p:sp>
      <p:sp>
        <p:nvSpPr>
          <p:cNvPr id="21" name="Equation card"/>
          <p:cNvSpPr/>
          <p:nvPr/>
        </p:nvSpPr>
        <p:spPr>
          <a:xfrm>
            <a:off x="5120640" y="1188720"/>
            <a:ext cx="3566160" cy="1600200"/>
          </a:xfrm>
          <a:prstGeom prst="roundRect">
            <a:avLst>
              <a:gd name="adj" fmla="val 4571"/>
            </a:avLst>
          </a:prstGeom>
          <a:solidFill>
            <a:schemeClr val="bg2"/>
          </a:solidFill>
          <a:ln/>
        </p:spPr>
      </p:sp>
      <p:sp>
        <p:nvSpPr>
          <p:cNvPr id="22" name="Text 20"/>
          <p:cNvSpPr txBox="1"/>
          <p:nvPr/>
        </p:nvSpPr>
        <p:spPr>
          <a:xfrm>
            <a:off x="5349240" y="1298448"/>
            <a:ext cx="3108960" cy="320040"/>
          </a:xfrm>
          <a:prstGeom prst="rect">
            <a:avLst/>
          </a:prstGeom>
          <a:noFill/>
          <a:ln/>
        </p:spPr>
        <p:txBody>
          <a:bodyPr wrap="square" lIns="0" tIns="0" rIns="0" bIns="0" rtlCol="0" anchor="t"/>
          <a:lstStyle/>
          <a:p>
            <a:pPr indent="0" marL="0">
              <a:buNone/>
            </a:pPr>
            <a:r>
              <a:rPr lang="en-US" sz="1500" b="1" dirty="0">
                <a:solidFill>
                  <a:schemeClr val="tx2"/>
                </a:solidFill>
              </a:rPr>
              <a:t>Model estimated</a:t>
            </a:r>
            <a:endParaRPr lang="en-US" sz="1500" dirty="0"/>
          </a:p>
        </p:txBody>
      </p:sp>
      <p:sp>
        <p:nvSpPr>
          <p:cNvPr id="23" name="Text 21"/>
          <p:cNvSpPr txBox="1"/>
          <p:nvPr/>
        </p:nvSpPr>
        <p:spPr>
          <a:xfrm>
            <a:off x="5349240" y="1645920"/>
            <a:ext cx="3154680" cy="1097280"/>
          </a:xfrm>
          <a:prstGeom prst="rect">
            <a:avLst/>
          </a:prstGeom>
          <a:noFill/>
          <a:ln/>
        </p:spPr>
        <p:txBody>
          <a:bodyPr wrap="square" lIns="0" tIns="0" rIns="0" bIns="0" rtlCol="0" anchor="t"/>
          <a:lstStyle/>
          <a:p>
            <a:pPr indent="0" marL="0">
              <a:buNone/>
            </a:pPr>
            <a:r>
              <a:rPr lang="en-US" sz="1300" i="1" dirty="0">
                <a:solidFill>
                  <a:schemeClr val="tx1"/>
                </a:solidFill>
              </a:rPr>
              <a:t>m = f(cost of migration, adult literacy, inequality, inequality², political instability, inflation, population density, unemployment, per capita income)</a:t>
            </a:r>
            <a:endParaRPr lang="en-US" sz="1300" dirty="0"/>
          </a:p>
        </p:txBody>
      </p:sp>
      <p:sp>
        <p:nvSpPr>
          <p:cNvPr id="24" name="Critique card"/>
          <p:cNvSpPr/>
          <p:nvPr/>
        </p:nvSpPr>
        <p:spPr>
          <a:xfrm>
            <a:off x="5120640" y="2971800"/>
            <a:ext cx="3566160" cy="1600200"/>
          </a:xfrm>
          <a:prstGeom prst="roundRect">
            <a:avLst>
              <a:gd name="adj" fmla="val 4571"/>
            </a:avLst>
          </a:prstGeom>
          <a:solidFill>
            <a:schemeClr val="tx2"/>
          </a:solidFill>
          <a:ln/>
        </p:spPr>
      </p:sp>
      <p:sp>
        <p:nvSpPr>
          <p:cNvPr id="25" name="Text 23"/>
          <p:cNvSpPr txBox="1"/>
          <p:nvPr/>
        </p:nvSpPr>
        <p:spPr>
          <a:xfrm>
            <a:off x="5349240" y="3081528"/>
            <a:ext cx="3108960" cy="320040"/>
          </a:xfrm>
          <a:prstGeom prst="rect">
            <a:avLst/>
          </a:prstGeom>
          <a:noFill/>
          <a:ln/>
        </p:spPr>
        <p:txBody>
          <a:bodyPr wrap="square" lIns="0" tIns="0" rIns="0" bIns="0" rtlCol="0" anchor="t"/>
          <a:lstStyle/>
          <a:p>
            <a:pPr indent="0" marL="0">
              <a:buNone/>
            </a:pPr>
            <a:r>
              <a:rPr lang="en-US" sz="1500" b="1" dirty="0">
                <a:solidFill>
                  <a:schemeClr val="accent1"/>
                </a:solidFill>
              </a:rPr>
              <a:t>Critical view</a:t>
            </a:r>
            <a:endParaRPr lang="en-US" sz="1500" dirty="0"/>
          </a:p>
        </p:txBody>
      </p:sp>
      <p:sp>
        <p:nvSpPr>
          <p:cNvPr id="26" name="Text 24"/>
          <p:cNvSpPr txBox="1"/>
          <p:nvPr/>
        </p:nvSpPr>
        <p:spPr>
          <a:xfrm>
            <a:off x="5349240" y="3429000"/>
            <a:ext cx="3154680" cy="1097280"/>
          </a:xfrm>
          <a:prstGeom prst="rect">
            <a:avLst/>
          </a:prstGeom>
          <a:noFill/>
          <a:ln/>
        </p:spPr>
        <p:txBody>
          <a:bodyPr wrap="square" lIns="0" tIns="0" rIns="0" bIns="0" rtlCol="0" anchor="t"/>
          <a:lstStyle/>
          <a:p>
            <a:pPr indent="0" marL="0">
              <a:buNone/>
            </a:pPr>
            <a:r>
              <a:rPr lang="en-US" sz="1400" dirty="0">
                <a:solidFill>
                  <a:schemeClr val="bg1"/>
                </a:solidFill>
              </a:rPr>
              <a:t>An eclectic “push-factor” framework, not one unified theory. The gravity model is bilateral by nature, yet only origin-side variables are used.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1143000" y="320040"/>
            <a:ext cx="7543800" cy="640080"/>
          </a:xfrm>
          <a:prstGeom prst="rect">
            <a:avLst/>
          </a:prstGeom>
          <a:noFill/>
          <a:ln/>
        </p:spPr>
        <p:txBody>
          <a:bodyPr wrap="square" lIns="0" tIns="0" rIns="0" bIns="0" rtlCol="0" anchor="ctr"/>
          <a:lstStyle/>
          <a:p>
            <a:pPr algn="l" indent="0" marL="0">
              <a:buNone/>
            </a:pPr>
            <a:r>
              <a:rPr lang="en-US" sz="2800" b="1" dirty="0">
                <a:solidFill>
                  <a:schemeClr val="tx2"/>
                </a:solidFill>
              </a:rPr>
              <a:t>Data: annual series, 1975–2005</a:t>
            </a:r>
            <a:endParaRPr lang="en-US" sz="2800" dirty="0"/>
          </a:p>
        </p:txBody>
      </p:sp>
      <p:sp>
        <p:nvSpPr>
          <p:cNvPr id="3" name="Badge"/>
          <p:cNvSpPr/>
          <p:nvPr/>
        </p:nvSpPr>
        <p:spPr>
          <a:xfrm>
            <a:off x="457200" y="365760"/>
            <a:ext cx="548640" cy="548640"/>
          </a:xfrm>
          <a:prstGeom prst="ellipse">
            <a:avLst/>
          </a:prstGeom>
          <a:solidFill>
            <a:schemeClr val="accent1"/>
          </a:solidFill>
          <a:ln/>
        </p:spPr>
      </p:sp>
      <p:sp>
        <p:nvSpPr>
          <p:cNvPr id="4" name="Badge number"/>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2200" b="1" dirty="0">
                <a:solidFill>
                  <a:schemeClr val="tx2"/>
                </a:solidFill>
              </a:rPr>
              <a:t>3</a:t>
            </a:r>
            <a:endParaRPr lang="en-US" sz="2200" dirty="0"/>
          </a:p>
        </p:txBody>
      </p:sp>
      <p:graphicFrame>
        <p:nvGraphicFramePr>
          <p:cNvPr id="6" name="Data 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920240"/>
                <a:gridCol w="3474720"/>
                <a:gridCol w="1828800"/>
                <a:gridCol w="1005840"/>
              </a:tblGrid>
              <a:tr h="329184">
                <a:tc>
                  <a:txBody>
                    <a:bodyPr/>
                    <a:lstStyle/>
                    <a:p>
                      <a:pPr indent="0" marL="0">
                        <a:buNone/>
                      </a:pPr>
                      <a:r>
                        <a:rPr lang="en-US" sz="1200" b="1" dirty="0">
                          <a:solidFill>
                            <a:schemeClr val="bg1"/>
                          </a:solidFill>
                        </a:rPr>
                        <a:t>Variable</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Measure / proxy</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Source</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Exp. sign</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tx2"/>
                    </a:solidFill>
                  </a:tcPr>
                </a:tc>
              </a:tr>
              <a:tr h="329184">
                <a:tc>
                  <a:txBody>
                    <a:bodyPr/>
                    <a:lstStyle/>
                    <a:p>
                      <a:pPr algn="l" indent="0" marL="0">
                        <a:buNone/>
                      </a:pPr>
                      <a:r>
                        <a:rPr lang="en-US" sz="1200" b="1" dirty="0">
                          <a:solidFill>
                            <a:schemeClr val="tx1"/>
                          </a:solidFill>
                        </a:rPr>
                        <a:t>Migration share (m)</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rPr>
                        <a:t>Temporary + permanent migrants ÷ population</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rPr>
                        <a:t>CFO; NSCB</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tx1"/>
                          </a:solidFill>
                        </a:rPr>
                        <a:t>Dependent</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algn="l" indent="0" marL="0">
                        <a:buNone/>
                      </a:pPr>
                      <a:r>
                        <a:rPr lang="en-US" sz="1200" b="1" dirty="0">
                          <a:solidFill>
                            <a:schemeClr val="tx1"/>
                          </a:solidFill>
                        </a:rPr>
                        <a:t>Cost of migration</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rPr>
                        <a:t>Avg. one-way airfare Manila → top 24 destinations</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rPr>
                        <a:t>Authors’ estimate</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tx1"/>
                          </a:solidFill>
                        </a:rPr>
                        <a:t>−</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algn="l" indent="0" marL="0">
                        <a:buNone/>
                      </a:pPr>
                      <a:r>
                        <a:rPr lang="en-US" sz="1200" b="1" dirty="0">
                          <a:solidFill>
                            <a:schemeClr val="tx1"/>
                          </a:solidFill>
                        </a:rPr>
                        <a:t>Adult literacy</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rPr>
                        <a:t>Literacy rate (proxy for education)</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rPr>
                        <a:t>BSP; NSCB</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tx1"/>
                          </a:solidFill>
                        </a:rPr>
                        <a:t>+</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algn="l" indent="0" marL="0">
                        <a:buNone/>
                      </a:pPr>
                      <a:r>
                        <a:rPr lang="en-US" sz="1200" b="1" dirty="0">
                          <a:solidFill>
                            <a:schemeClr val="tx1"/>
                          </a:solidFill>
                        </a:rPr>
                        <a:t>Inequality, inequality²</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rPr>
                        <a:t>Gini coefficient and its square (Roy effect)</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accent2"/>
                          </a:solidFill>
                        </a:rPr>
                        <a:t>Not stated</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tx1"/>
                          </a:solidFill>
                        </a:rPr>
                        <a:t>±</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algn="l" indent="0" marL="0">
                        <a:buNone/>
                      </a:pPr>
                      <a:r>
                        <a:rPr lang="en-US" sz="1200" b="1" dirty="0">
                          <a:solidFill>
                            <a:schemeClr val="tx1"/>
                          </a:solidFill>
                        </a:rPr>
                        <a:t>Political instability</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rPr>
                        <a:t>Leadership changes, coups and uprisings</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rPr>
                        <a:t>Gastil (1987) approach</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tx1"/>
                          </a:solidFill>
                        </a:rPr>
                        <a:t>−</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algn="l" indent="0" marL="0">
                        <a:buNone/>
                      </a:pPr>
                      <a:r>
                        <a:rPr lang="en-US" sz="1200" b="1" dirty="0">
                          <a:solidFill>
                            <a:schemeClr val="tx1"/>
                          </a:solidFill>
                        </a:rPr>
                        <a:t>Inflation rate</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rPr>
                        <a:t>Consumer price index</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rPr>
                        <a:t>IMF IFS; BSP; NSCB</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tx1"/>
                          </a:solidFill>
                        </a:rPr>
                        <a:t>−</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algn="l" indent="0" marL="0">
                        <a:buNone/>
                      </a:pPr>
                      <a:r>
                        <a:rPr lang="en-US" sz="1200" b="1" dirty="0">
                          <a:solidFill>
                            <a:schemeClr val="tx1"/>
                          </a:solidFill>
                        </a:rPr>
                        <a:t>Population density</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rPr>
                        <a:t>People per km²</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rPr>
                        <a:t>NSCB</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tx1"/>
                          </a:solidFill>
                        </a:rPr>
                        <a:t>+</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algn="l" indent="0" marL="0">
                        <a:buNone/>
                      </a:pPr>
                      <a:r>
                        <a:rPr lang="en-US" sz="1200" b="1" dirty="0">
                          <a:solidFill>
                            <a:schemeClr val="tx1"/>
                          </a:solidFill>
                        </a:rPr>
                        <a:t>Unemployment rate</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rPr>
                        <a:t>Unemployment rate</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rPr>
                        <a:t>IMF IFS; BSP; NSCB</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tx1"/>
                          </a:solidFill>
                        </a:rPr>
                        <a:t>+</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algn="l" indent="0" marL="0">
                        <a:buNone/>
                      </a:pPr>
                      <a:r>
                        <a:rPr lang="en-US" sz="1200" b="1" dirty="0">
                          <a:solidFill>
                            <a:schemeClr val="tx1"/>
                          </a:solidFill>
                        </a:rPr>
                        <a:t>Per capita income</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rPr>
                        <a:t>Real GDP per capita (PPP)</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rPr>
                        <a:t>IMF IFS; BSP; NSCB</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tx1"/>
                          </a:solidFill>
                        </a:rPr>
                        <a:t>−</a:t>
                      </a:r>
                      <a:endParaRPr lang="en-US" sz="1200" dirty="0"/>
                    </a:p>
                  </a:txBody>
                  <a:tcPr marL="76200" marR="76200" marT="25400" marB="2540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1143000" y="320040"/>
            <a:ext cx="7543800" cy="640080"/>
          </a:xfrm>
          <a:prstGeom prst="rect">
            <a:avLst/>
          </a:prstGeom>
          <a:noFill/>
          <a:ln/>
        </p:spPr>
        <p:txBody>
          <a:bodyPr wrap="square" lIns="0" tIns="0" rIns="0" bIns="0" rtlCol="0" anchor="ctr"/>
          <a:lstStyle/>
          <a:p>
            <a:pPr algn="l" indent="0" marL="0">
              <a:buNone/>
            </a:pPr>
            <a:r>
              <a:rPr lang="en-US" sz="2800" b="1" dirty="0">
                <a:solidFill>
                  <a:schemeClr val="tx2"/>
                </a:solidFill>
              </a:rPr>
              <a:t>Methodology: time-series econometrics</a:t>
            </a:r>
            <a:endParaRPr lang="en-US" sz="2800" dirty="0"/>
          </a:p>
        </p:txBody>
      </p:sp>
      <p:sp>
        <p:nvSpPr>
          <p:cNvPr id="3" name="Badge"/>
          <p:cNvSpPr/>
          <p:nvPr/>
        </p:nvSpPr>
        <p:spPr>
          <a:xfrm>
            <a:off x="457200" y="365760"/>
            <a:ext cx="548640" cy="548640"/>
          </a:xfrm>
          <a:prstGeom prst="ellipse">
            <a:avLst/>
          </a:prstGeom>
          <a:solidFill>
            <a:schemeClr val="accent1"/>
          </a:solidFill>
          <a:ln/>
        </p:spPr>
      </p:sp>
      <p:sp>
        <p:nvSpPr>
          <p:cNvPr id="4" name="Badge number"/>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2200" b="1" dirty="0">
                <a:solidFill>
                  <a:schemeClr val="tx2"/>
                </a:solidFill>
              </a:rPr>
              <a:t>4</a:t>
            </a:r>
            <a:endParaRPr lang="en-US" sz="2200" dirty="0"/>
          </a:p>
        </p:txBody>
      </p:sp>
      <p:sp>
        <p:nvSpPr>
          <p:cNvPr id="5" name="Step 1"/>
          <p:cNvSpPr/>
          <p:nvPr/>
        </p:nvSpPr>
        <p:spPr>
          <a:xfrm>
            <a:off x="457200" y="1234440"/>
            <a:ext cx="1499616" cy="2331720"/>
          </a:xfrm>
          <a:prstGeom prst="roundRect">
            <a:avLst>
              <a:gd name="adj" fmla="val 4878"/>
            </a:avLst>
          </a:prstGeom>
          <a:solidFill>
            <a:schemeClr val="bg2"/>
          </a:solidFill>
          <a:ln/>
        </p:spPr>
      </p:sp>
      <p:sp>
        <p:nvSpPr>
          <p:cNvPr id="6" name="Text 4"/>
          <p:cNvSpPr txBox="1"/>
          <p:nvPr/>
        </p:nvSpPr>
        <p:spPr>
          <a:xfrm>
            <a:off x="640080" y="1371600"/>
            <a:ext cx="548640" cy="50292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1</a:t>
            </a:r>
            <a:endParaRPr lang="en-US" sz="2800" dirty="0"/>
          </a:p>
        </p:txBody>
      </p:sp>
      <p:sp>
        <p:nvSpPr>
          <p:cNvPr id="7" name="Text 5"/>
          <p:cNvSpPr txBox="1"/>
          <p:nvPr/>
        </p:nvSpPr>
        <p:spPr>
          <a:xfrm>
            <a:off x="640080" y="1920240"/>
            <a:ext cx="1179576" cy="320040"/>
          </a:xfrm>
          <a:prstGeom prst="rect">
            <a:avLst/>
          </a:prstGeom>
          <a:noFill/>
          <a:ln/>
        </p:spPr>
        <p:txBody>
          <a:bodyPr wrap="square" lIns="0" tIns="0" rIns="0" bIns="0" rtlCol="0" anchor="t"/>
          <a:lstStyle/>
          <a:p>
            <a:pPr indent="0" marL="0">
              <a:buNone/>
            </a:pPr>
            <a:r>
              <a:rPr lang="en-US" sz="1500" b="1" dirty="0">
                <a:solidFill>
                  <a:schemeClr val="tx2"/>
                </a:solidFill>
              </a:rPr>
              <a:t>Unit-root tests</a:t>
            </a:r>
            <a:endParaRPr lang="en-US" sz="1500" dirty="0"/>
          </a:p>
        </p:txBody>
      </p:sp>
      <p:sp>
        <p:nvSpPr>
          <p:cNvPr id="8" name="Text 6"/>
          <p:cNvSpPr txBox="1"/>
          <p:nvPr/>
        </p:nvSpPr>
        <p:spPr>
          <a:xfrm>
            <a:off x="640080" y="2286000"/>
            <a:ext cx="1179576" cy="1188720"/>
          </a:xfrm>
          <a:prstGeom prst="rect">
            <a:avLst/>
          </a:prstGeom>
          <a:noFill/>
          <a:ln/>
        </p:spPr>
        <p:txBody>
          <a:bodyPr wrap="square" lIns="0" tIns="0" rIns="0" bIns="0" rtlCol="0" anchor="t"/>
          <a:lstStyle/>
          <a:p>
            <a:pPr indent="0" marL="0">
              <a:buNone/>
            </a:pPr>
            <a:r>
              <a:rPr lang="en-US" sz="1300" dirty="0">
                <a:solidFill>
                  <a:schemeClr val="tx1"/>
                </a:solidFill>
              </a:rPr>
              <a:t>ADF and Phillips–Perron: series are I(1)</a:t>
            </a:r>
            <a:endParaRPr lang="en-US" sz="1300" dirty="0"/>
          </a:p>
        </p:txBody>
      </p:sp>
      <p:sp>
        <p:nvSpPr>
          <p:cNvPr id="9" name="Step 2"/>
          <p:cNvSpPr/>
          <p:nvPr/>
        </p:nvSpPr>
        <p:spPr>
          <a:xfrm>
            <a:off x="2139696" y="1234440"/>
            <a:ext cx="1499616" cy="2331720"/>
          </a:xfrm>
          <a:prstGeom prst="roundRect">
            <a:avLst>
              <a:gd name="adj" fmla="val 4878"/>
            </a:avLst>
          </a:prstGeom>
          <a:solidFill>
            <a:schemeClr val="bg2"/>
          </a:solidFill>
          <a:ln/>
        </p:spPr>
      </p:sp>
      <p:sp>
        <p:nvSpPr>
          <p:cNvPr id="10" name="Text 8"/>
          <p:cNvSpPr txBox="1"/>
          <p:nvPr/>
        </p:nvSpPr>
        <p:spPr>
          <a:xfrm>
            <a:off x="2322576" y="1371600"/>
            <a:ext cx="548640" cy="50292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2</a:t>
            </a:r>
            <a:endParaRPr lang="en-US" sz="2800" dirty="0"/>
          </a:p>
        </p:txBody>
      </p:sp>
      <p:sp>
        <p:nvSpPr>
          <p:cNvPr id="11" name="Text 9"/>
          <p:cNvSpPr txBox="1"/>
          <p:nvPr/>
        </p:nvSpPr>
        <p:spPr>
          <a:xfrm>
            <a:off x="2322576" y="1920240"/>
            <a:ext cx="1179576" cy="320040"/>
          </a:xfrm>
          <a:prstGeom prst="rect">
            <a:avLst/>
          </a:prstGeom>
          <a:noFill/>
          <a:ln/>
        </p:spPr>
        <p:txBody>
          <a:bodyPr wrap="square" lIns="0" tIns="0" rIns="0" bIns="0" rtlCol="0" anchor="t"/>
          <a:lstStyle/>
          <a:p>
            <a:pPr indent="0" marL="0">
              <a:buNone/>
            </a:pPr>
            <a:r>
              <a:rPr lang="en-US" sz="1500" b="1" dirty="0">
                <a:solidFill>
                  <a:schemeClr val="tx2"/>
                </a:solidFill>
              </a:rPr>
              <a:t>Cointegration</a:t>
            </a:r>
            <a:endParaRPr lang="en-US" sz="1500" dirty="0"/>
          </a:p>
        </p:txBody>
      </p:sp>
      <p:sp>
        <p:nvSpPr>
          <p:cNvPr id="12" name="Text 10"/>
          <p:cNvSpPr txBox="1"/>
          <p:nvPr/>
        </p:nvSpPr>
        <p:spPr>
          <a:xfrm>
            <a:off x="2322576" y="2286000"/>
            <a:ext cx="1179576" cy="1188720"/>
          </a:xfrm>
          <a:prstGeom prst="rect">
            <a:avLst/>
          </a:prstGeom>
          <a:noFill/>
          <a:ln/>
        </p:spPr>
        <p:txBody>
          <a:bodyPr wrap="square" lIns="0" tIns="0" rIns="0" bIns="0" rtlCol="0" anchor="t"/>
          <a:lstStyle/>
          <a:p>
            <a:pPr indent="0" marL="0">
              <a:buNone/>
            </a:pPr>
            <a:r>
              <a:rPr lang="en-US" sz="1300" dirty="0">
                <a:solidFill>
                  <a:schemeClr val="tx1"/>
                </a:solidFill>
              </a:rPr>
              <a:t>Engle–Granger, Johansen and Pesaran bounds: long-run link exists</a:t>
            </a:r>
            <a:endParaRPr lang="en-US" sz="1300" dirty="0"/>
          </a:p>
        </p:txBody>
      </p:sp>
      <p:sp>
        <p:nvSpPr>
          <p:cNvPr id="13" name="Step 3"/>
          <p:cNvSpPr/>
          <p:nvPr/>
        </p:nvSpPr>
        <p:spPr>
          <a:xfrm>
            <a:off x="3822192" y="1234440"/>
            <a:ext cx="1499616" cy="2331720"/>
          </a:xfrm>
          <a:prstGeom prst="roundRect">
            <a:avLst>
              <a:gd name="adj" fmla="val 4878"/>
            </a:avLst>
          </a:prstGeom>
          <a:solidFill>
            <a:schemeClr val="bg2"/>
          </a:solidFill>
          <a:ln/>
        </p:spPr>
      </p:sp>
      <p:sp>
        <p:nvSpPr>
          <p:cNvPr id="14" name="Text 12"/>
          <p:cNvSpPr txBox="1"/>
          <p:nvPr/>
        </p:nvSpPr>
        <p:spPr>
          <a:xfrm>
            <a:off x="4005072" y="1371600"/>
            <a:ext cx="548640" cy="50292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3</a:t>
            </a:r>
            <a:endParaRPr lang="en-US" sz="2800" dirty="0"/>
          </a:p>
        </p:txBody>
      </p:sp>
      <p:sp>
        <p:nvSpPr>
          <p:cNvPr id="15" name="Text 13"/>
          <p:cNvSpPr txBox="1"/>
          <p:nvPr/>
        </p:nvSpPr>
        <p:spPr>
          <a:xfrm>
            <a:off x="4005072" y="1920240"/>
            <a:ext cx="1179576" cy="320040"/>
          </a:xfrm>
          <a:prstGeom prst="rect">
            <a:avLst/>
          </a:prstGeom>
          <a:noFill/>
          <a:ln/>
        </p:spPr>
        <p:txBody>
          <a:bodyPr wrap="square" lIns="0" tIns="0" rIns="0" bIns="0" rtlCol="0" anchor="t"/>
          <a:lstStyle/>
          <a:p>
            <a:pPr indent="0" marL="0">
              <a:buNone/>
            </a:pPr>
            <a:r>
              <a:rPr lang="en-US" sz="1500" b="1" dirty="0">
                <a:solidFill>
                  <a:schemeClr val="tx2"/>
                </a:solidFill>
              </a:rPr>
              <a:t>Specification</a:t>
            </a:r>
            <a:endParaRPr lang="en-US" sz="1500" dirty="0"/>
          </a:p>
        </p:txBody>
      </p:sp>
      <p:sp>
        <p:nvSpPr>
          <p:cNvPr id="16" name="Text 14"/>
          <p:cNvSpPr txBox="1"/>
          <p:nvPr/>
        </p:nvSpPr>
        <p:spPr>
          <a:xfrm>
            <a:off x="4005072" y="2286000"/>
            <a:ext cx="1179576" cy="1188720"/>
          </a:xfrm>
          <a:prstGeom prst="rect">
            <a:avLst/>
          </a:prstGeom>
          <a:noFill/>
          <a:ln/>
        </p:spPr>
        <p:txBody>
          <a:bodyPr wrap="square" lIns="0" tIns="0" rIns="0" bIns="0" rtlCol="0" anchor="t"/>
          <a:lstStyle/>
          <a:p>
            <a:pPr indent="0" marL="0">
              <a:buNone/>
            </a:pPr>
            <a:r>
              <a:rPr lang="en-US" sz="1300" dirty="0">
                <a:solidFill>
                  <a:schemeClr val="tx1"/>
                </a:solidFill>
              </a:rPr>
              <a:t>General-to-specific (Hendry &amp; Ericsson 1991)</a:t>
            </a:r>
            <a:endParaRPr lang="en-US" sz="1300" dirty="0"/>
          </a:p>
        </p:txBody>
      </p:sp>
      <p:sp>
        <p:nvSpPr>
          <p:cNvPr id="17" name="Step 4"/>
          <p:cNvSpPr/>
          <p:nvPr/>
        </p:nvSpPr>
        <p:spPr>
          <a:xfrm>
            <a:off x="5504688" y="1234440"/>
            <a:ext cx="1499616" cy="2331720"/>
          </a:xfrm>
          <a:prstGeom prst="roundRect">
            <a:avLst>
              <a:gd name="adj" fmla="val 4878"/>
            </a:avLst>
          </a:prstGeom>
          <a:solidFill>
            <a:schemeClr val="tx2"/>
          </a:solidFill>
          <a:ln/>
        </p:spPr>
      </p:sp>
      <p:sp>
        <p:nvSpPr>
          <p:cNvPr id="18" name="Text 16"/>
          <p:cNvSpPr txBox="1"/>
          <p:nvPr/>
        </p:nvSpPr>
        <p:spPr>
          <a:xfrm>
            <a:off x="5687568" y="1371600"/>
            <a:ext cx="548640" cy="50292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4</a:t>
            </a:r>
            <a:endParaRPr lang="en-US" sz="2800" dirty="0"/>
          </a:p>
        </p:txBody>
      </p:sp>
      <p:sp>
        <p:nvSpPr>
          <p:cNvPr id="19" name="Text 17"/>
          <p:cNvSpPr txBox="1"/>
          <p:nvPr/>
        </p:nvSpPr>
        <p:spPr>
          <a:xfrm>
            <a:off x="5687568" y="1920240"/>
            <a:ext cx="1179576" cy="320040"/>
          </a:xfrm>
          <a:prstGeom prst="rect">
            <a:avLst/>
          </a:prstGeom>
          <a:noFill/>
          <a:ln/>
        </p:spPr>
        <p:txBody>
          <a:bodyPr wrap="square" lIns="0" tIns="0" rIns="0" bIns="0" rtlCol="0" anchor="t"/>
          <a:lstStyle/>
          <a:p>
            <a:pPr indent="0" marL="0">
              <a:buNone/>
            </a:pPr>
            <a:r>
              <a:rPr lang="en-US" sz="1500" b="1" dirty="0">
                <a:solidFill>
                  <a:schemeClr val="bg1"/>
                </a:solidFill>
              </a:rPr>
              <a:t>Estimation</a:t>
            </a:r>
            <a:endParaRPr lang="en-US" sz="1500" dirty="0"/>
          </a:p>
        </p:txBody>
      </p:sp>
      <p:sp>
        <p:nvSpPr>
          <p:cNvPr id="20" name="Text 18"/>
          <p:cNvSpPr txBox="1"/>
          <p:nvPr/>
        </p:nvSpPr>
        <p:spPr>
          <a:xfrm>
            <a:off x="5687568" y="2286000"/>
            <a:ext cx="1179576" cy="1188720"/>
          </a:xfrm>
          <a:prstGeom prst="rect">
            <a:avLst/>
          </a:prstGeom>
          <a:noFill/>
          <a:ln/>
        </p:spPr>
        <p:txBody>
          <a:bodyPr wrap="square" lIns="0" tIns="0" rIns="0" bIns="0" rtlCol="0" anchor="t"/>
          <a:lstStyle/>
          <a:p>
            <a:pPr indent="0" marL="0">
              <a:buNone/>
            </a:pPr>
            <a:r>
              <a:rPr lang="en-US" sz="1300" dirty="0">
                <a:solidFill>
                  <a:schemeClr val="bg1"/>
                </a:solidFill>
              </a:rPr>
              <a:t>Unrestricted ECM by OLS in EViews 6.0</a:t>
            </a:r>
            <a:endParaRPr lang="en-US" sz="1300" dirty="0"/>
          </a:p>
        </p:txBody>
      </p:sp>
      <p:sp>
        <p:nvSpPr>
          <p:cNvPr id="21" name="Step 5"/>
          <p:cNvSpPr/>
          <p:nvPr/>
        </p:nvSpPr>
        <p:spPr>
          <a:xfrm>
            <a:off x="7187184" y="1234440"/>
            <a:ext cx="1499616" cy="2331720"/>
          </a:xfrm>
          <a:prstGeom prst="roundRect">
            <a:avLst>
              <a:gd name="adj" fmla="val 4878"/>
            </a:avLst>
          </a:prstGeom>
          <a:solidFill>
            <a:schemeClr val="bg2"/>
          </a:solidFill>
          <a:ln/>
        </p:spPr>
      </p:sp>
      <p:sp>
        <p:nvSpPr>
          <p:cNvPr id="22" name="Text 20"/>
          <p:cNvSpPr txBox="1"/>
          <p:nvPr/>
        </p:nvSpPr>
        <p:spPr>
          <a:xfrm>
            <a:off x="7370064" y="1371600"/>
            <a:ext cx="548640" cy="50292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5</a:t>
            </a:r>
            <a:endParaRPr lang="en-US" sz="2800" dirty="0"/>
          </a:p>
        </p:txBody>
      </p:sp>
      <p:sp>
        <p:nvSpPr>
          <p:cNvPr id="23" name="Text 21"/>
          <p:cNvSpPr txBox="1"/>
          <p:nvPr/>
        </p:nvSpPr>
        <p:spPr>
          <a:xfrm>
            <a:off x="7370064" y="1920240"/>
            <a:ext cx="1179576" cy="320040"/>
          </a:xfrm>
          <a:prstGeom prst="rect">
            <a:avLst/>
          </a:prstGeom>
          <a:noFill/>
          <a:ln/>
        </p:spPr>
        <p:txBody>
          <a:bodyPr wrap="square" lIns="0" tIns="0" rIns="0" bIns="0" rtlCol="0" anchor="t"/>
          <a:lstStyle/>
          <a:p>
            <a:pPr indent="0" marL="0">
              <a:buNone/>
            </a:pPr>
            <a:r>
              <a:rPr lang="en-US" sz="1500" b="1" dirty="0">
                <a:solidFill>
                  <a:schemeClr val="tx2"/>
                </a:solidFill>
              </a:rPr>
              <a:t>Diagnostics</a:t>
            </a:r>
            <a:endParaRPr lang="en-US" sz="1500" dirty="0"/>
          </a:p>
        </p:txBody>
      </p:sp>
      <p:sp>
        <p:nvSpPr>
          <p:cNvPr id="24" name="Text 22"/>
          <p:cNvSpPr txBox="1"/>
          <p:nvPr/>
        </p:nvSpPr>
        <p:spPr>
          <a:xfrm>
            <a:off x="7370064" y="2286000"/>
            <a:ext cx="1179576" cy="1188720"/>
          </a:xfrm>
          <a:prstGeom prst="rect">
            <a:avLst/>
          </a:prstGeom>
          <a:noFill/>
          <a:ln/>
        </p:spPr>
        <p:txBody>
          <a:bodyPr wrap="square" lIns="0" tIns="0" rIns="0" bIns="0" rtlCol="0" anchor="t"/>
          <a:lstStyle/>
          <a:p>
            <a:pPr indent="0" marL="0">
              <a:buNone/>
            </a:pPr>
            <a:r>
              <a:rPr lang="en-US" sz="1300" dirty="0">
                <a:solidFill>
                  <a:schemeClr val="tx1"/>
                </a:solidFill>
              </a:rPr>
              <a:t>LM, RESET, Jarque–Bera, ARCH, CUSUM: all passed</a:t>
            </a:r>
            <a:endParaRPr lang="en-US" sz="1300" dirty="0"/>
          </a:p>
        </p:txBody>
      </p:sp>
      <p:sp>
        <p:nvSpPr>
          <p:cNvPr id="25" name="Text 23"/>
          <p:cNvSpPr txBox="1"/>
          <p:nvPr/>
        </p:nvSpPr>
        <p:spPr>
          <a:xfrm>
            <a:off x="457200" y="3749040"/>
            <a:ext cx="8229600" cy="868680"/>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Approach: </a:t>
            </a:r>
            <a:pPr indent="0" marL="0">
              <a:spcAft>
                <a:spcPts val="400"/>
              </a:spcAft>
              <a:buNone/>
            </a:pPr>
            <a:r>
              <a:rPr lang="en-US" sz="1400" dirty="0">
                <a:solidFill>
                  <a:schemeClr val="tx1"/>
                </a:solidFill>
              </a:rPr>
              <a:t>quantitative, macro-level, single-country time series. The final model is in first differences plus an error correction term (ECT) that captures the long-run relationship.</a:t>
            </a:r>
            <a:endParaRPr lang="en-US" sz="1400" dirty="0"/>
          </a:p>
          <a:p>
            <a:pPr indent="0" marL="0">
              <a:spcAft>
                <a:spcPts val="400"/>
              </a:spcAft>
              <a:buNone/>
            </a:pPr>
            <a:r>
              <a:rPr lang="en-US" sz="1400" b="1" dirty="0">
                <a:solidFill>
                  <a:schemeClr val="accent2"/>
                </a:solidFill>
              </a:rPr>
              <a:t>Watch-out: </a:t>
            </a:r>
            <a:pPr indent="0" marL="0">
              <a:spcAft>
                <a:spcPts val="400"/>
              </a:spcAft>
              <a:buNone/>
            </a:pPr>
            <a:r>
              <a:rPr lang="en-US" sz="1400" dirty="0">
                <a:solidFill>
                  <a:schemeClr val="tx1"/>
                </a:solidFill>
              </a:rPr>
              <a:t>Johansen finds 5–8 cointegrating vectors, but only one ECT is kept for parsimony.</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1143000" y="320040"/>
            <a:ext cx="7543800" cy="640080"/>
          </a:xfrm>
          <a:prstGeom prst="rect">
            <a:avLst/>
          </a:prstGeom>
          <a:noFill/>
          <a:ln/>
        </p:spPr>
        <p:txBody>
          <a:bodyPr wrap="square" lIns="0" tIns="0" rIns="0" bIns="0" rtlCol="0" anchor="ctr"/>
          <a:lstStyle/>
          <a:p>
            <a:pPr algn="l" indent="0" marL="0">
              <a:buNone/>
            </a:pPr>
            <a:r>
              <a:rPr lang="en-US" sz="2800" b="1" dirty="0">
                <a:solidFill>
                  <a:schemeClr val="tx2"/>
                </a:solidFill>
              </a:rPr>
              <a:t>Key findings: what drives emigration</a:t>
            </a:r>
            <a:endParaRPr lang="en-US" sz="2800" dirty="0"/>
          </a:p>
        </p:txBody>
      </p:sp>
      <p:sp>
        <p:nvSpPr>
          <p:cNvPr id="3" name="Badge"/>
          <p:cNvSpPr/>
          <p:nvPr/>
        </p:nvSpPr>
        <p:spPr>
          <a:xfrm>
            <a:off x="457200" y="365760"/>
            <a:ext cx="548640" cy="548640"/>
          </a:xfrm>
          <a:prstGeom prst="ellipse">
            <a:avLst/>
          </a:prstGeom>
          <a:solidFill>
            <a:schemeClr val="accent1"/>
          </a:solidFill>
          <a:ln/>
        </p:spPr>
      </p:sp>
      <p:sp>
        <p:nvSpPr>
          <p:cNvPr id="4" name="Badge number"/>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2200" b="1" dirty="0">
                <a:solidFill>
                  <a:schemeClr val="tx2"/>
                </a:solidFill>
              </a:rPr>
              <a:t>5</a:t>
            </a:r>
            <a:endParaRPr lang="en-US" sz="2200" dirty="0"/>
          </a:p>
        </p:txBody>
      </p:sp>
      <p:graphicFrame>
        <p:nvGraphicFramePr>
          <p:cNvPr id="5" name="t-statistic chart" descr=""/>
          <p:cNvGraphicFramePr/>
          <p:nvPr/>
        </p:nvGraphicFramePr>
        <p:xfrm>
          <a:off x="457200" y="1097280"/>
          <a:ext cx="5120640" cy="3566160"/>
        </p:xfrm>
        <a:graphic xmlns:a="http://schemas.openxmlformats.org/drawingml/2006/main">
          <a:graphicData uri="http://schemas.openxmlformats.org/drawingml/2006/chart">
            <c:chart xmlns:c="http://schemas.openxmlformats.org/drawingml/2006/chart" r:id="rId1"/>
          </a:graphicData>
        </a:graphic>
      </p:graphicFrame>
      <p:sp>
        <p:nvSpPr>
          <p:cNvPr id="6" name="KPI 1"/>
          <p:cNvSpPr/>
          <p:nvPr/>
        </p:nvSpPr>
        <p:spPr>
          <a:xfrm>
            <a:off x="5852160" y="1188720"/>
            <a:ext cx="2834640" cy="1024128"/>
          </a:xfrm>
          <a:prstGeom prst="roundRect">
            <a:avLst>
              <a:gd name="adj" fmla="val 7143"/>
            </a:avLst>
          </a:prstGeom>
          <a:solidFill>
            <a:schemeClr val="bg2"/>
          </a:solidFill>
          <a:ln/>
        </p:spPr>
      </p:sp>
      <p:sp>
        <p:nvSpPr>
          <p:cNvPr id="7" name="Text 4"/>
          <p:cNvSpPr txBox="1"/>
          <p:nvPr/>
        </p:nvSpPr>
        <p:spPr>
          <a:xfrm>
            <a:off x="6035040" y="1261872"/>
            <a:ext cx="2560320" cy="41148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0.63</a:t>
            </a:r>
            <a:endParaRPr lang="en-US" sz="2400" dirty="0"/>
          </a:p>
        </p:txBody>
      </p:sp>
      <p:sp>
        <p:nvSpPr>
          <p:cNvPr id="8" name="Text 5"/>
          <p:cNvSpPr txBox="1"/>
          <p:nvPr/>
        </p:nvSpPr>
        <p:spPr>
          <a:xfrm>
            <a:off x="6035040" y="1673352"/>
            <a:ext cx="2560320" cy="502920"/>
          </a:xfrm>
          <a:prstGeom prst="rect">
            <a:avLst/>
          </a:prstGeom>
          <a:noFill/>
          <a:ln/>
        </p:spPr>
        <p:txBody>
          <a:bodyPr wrap="square" lIns="0" tIns="0" rIns="0" bIns="0" rtlCol="0" anchor="t"/>
          <a:lstStyle/>
          <a:p>
            <a:pPr indent="0" marL="0">
              <a:buNone/>
            </a:pPr>
            <a:r>
              <a:rPr lang="en-US" sz="1200" dirty="0">
                <a:solidFill>
                  <a:schemeClr val="tx1"/>
                </a:solidFill>
              </a:rPr>
              <a:t>Adjusted R²: model explains 63% of variation</a:t>
            </a:r>
            <a:endParaRPr lang="en-US" sz="1200" dirty="0"/>
          </a:p>
        </p:txBody>
      </p:sp>
      <p:sp>
        <p:nvSpPr>
          <p:cNvPr id="9" name="KPI 2"/>
          <p:cNvSpPr/>
          <p:nvPr/>
        </p:nvSpPr>
        <p:spPr>
          <a:xfrm>
            <a:off x="5852160" y="2350008"/>
            <a:ext cx="2834640" cy="1024128"/>
          </a:xfrm>
          <a:prstGeom prst="roundRect">
            <a:avLst>
              <a:gd name="adj" fmla="val 7143"/>
            </a:avLst>
          </a:prstGeom>
          <a:solidFill>
            <a:schemeClr val="bg2"/>
          </a:solidFill>
          <a:ln/>
        </p:spPr>
      </p:sp>
      <p:sp>
        <p:nvSpPr>
          <p:cNvPr id="10" name="Text 7"/>
          <p:cNvSpPr txBox="1"/>
          <p:nvPr/>
        </p:nvSpPr>
        <p:spPr>
          <a:xfrm>
            <a:off x="6035040" y="2423160"/>
            <a:ext cx="2560320" cy="41148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−0.776</a:t>
            </a:r>
            <a:endParaRPr lang="en-US" sz="2400" dirty="0"/>
          </a:p>
        </p:txBody>
      </p:sp>
      <p:sp>
        <p:nvSpPr>
          <p:cNvPr id="11" name="Text 8"/>
          <p:cNvSpPr txBox="1"/>
          <p:nvPr/>
        </p:nvSpPr>
        <p:spPr>
          <a:xfrm>
            <a:off x="6035040" y="2834640"/>
            <a:ext cx="2560320" cy="502920"/>
          </a:xfrm>
          <a:prstGeom prst="rect">
            <a:avLst/>
          </a:prstGeom>
          <a:noFill/>
          <a:ln/>
        </p:spPr>
        <p:txBody>
          <a:bodyPr wrap="square" lIns="0" tIns="0" rIns="0" bIns="0" rtlCol="0" anchor="t"/>
          <a:lstStyle/>
          <a:p>
            <a:pPr indent="0" marL="0">
              <a:buNone/>
            </a:pPr>
            <a:r>
              <a:rPr lang="en-US" sz="1200" dirty="0">
                <a:solidFill>
                  <a:schemeClr val="tx1"/>
                </a:solidFill>
              </a:rPr>
              <a:t>ECT: ~78% of any gap from long-run equilibrium closes within a year</a:t>
            </a:r>
            <a:endParaRPr lang="en-US" sz="1200" dirty="0"/>
          </a:p>
        </p:txBody>
      </p:sp>
      <p:sp>
        <p:nvSpPr>
          <p:cNvPr id="12" name="KPI 3"/>
          <p:cNvSpPr/>
          <p:nvPr/>
        </p:nvSpPr>
        <p:spPr>
          <a:xfrm>
            <a:off x="5852160" y="3511296"/>
            <a:ext cx="2834640" cy="1024128"/>
          </a:xfrm>
          <a:prstGeom prst="roundRect">
            <a:avLst>
              <a:gd name="adj" fmla="val 7143"/>
            </a:avLst>
          </a:prstGeom>
          <a:solidFill>
            <a:schemeClr val="bg2"/>
          </a:solidFill>
          <a:ln/>
        </p:spPr>
      </p:sp>
      <p:sp>
        <p:nvSpPr>
          <p:cNvPr id="13" name="Text 10"/>
          <p:cNvSpPr txBox="1"/>
          <p:nvPr/>
        </p:nvSpPr>
        <p:spPr>
          <a:xfrm>
            <a:off x="6035040" y="3584448"/>
            <a:ext cx="2560320" cy="41148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5.848</a:t>
            </a:r>
            <a:endParaRPr lang="en-US" sz="2400" dirty="0"/>
          </a:p>
        </p:txBody>
      </p:sp>
      <p:sp>
        <p:nvSpPr>
          <p:cNvPr id="14" name="Text 11"/>
          <p:cNvSpPr txBox="1"/>
          <p:nvPr/>
        </p:nvSpPr>
        <p:spPr>
          <a:xfrm>
            <a:off x="6035040" y="3995928"/>
            <a:ext cx="2560320" cy="502920"/>
          </a:xfrm>
          <a:prstGeom prst="rect">
            <a:avLst/>
          </a:prstGeom>
          <a:noFill/>
          <a:ln/>
        </p:spPr>
        <p:txBody>
          <a:bodyPr wrap="square" lIns="0" tIns="0" rIns="0" bIns="0" rtlCol="0" anchor="t"/>
          <a:lstStyle/>
          <a:p>
            <a:pPr indent="0" marL="0">
              <a:buNone/>
            </a:pPr>
            <a:r>
              <a:rPr lang="en-US" sz="1200" dirty="0">
                <a:solidFill>
                  <a:schemeClr val="tx1"/>
                </a:solidFill>
              </a:rPr>
              <a:t>F-statistic (p = 0.000): regressors jointly significant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1143000" y="320040"/>
            <a:ext cx="7543800" cy="640080"/>
          </a:xfrm>
          <a:prstGeom prst="rect">
            <a:avLst/>
          </a:prstGeom>
          <a:noFill/>
          <a:ln/>
        </p:spPr>
        <p:txBody>
          <a:bodyPr wrap="square" lIns="0" tIns="0" rIns="0" bIns="0" rtlCol="0" anchor="ctr"/>
          <a:lstStyle/>
          <a:p>
            <a:pPr algn="l" indent="0" marL="0">
              <a:buNone/>
            </a:pPr>
            <a:r>
              <a:rPr lang="en-US" sz="2800" b="1" dirty="0">
                <a:solidFill>
                  <a:schemeClr val="tx2"/>
                </a:solidFill>
              </a:rPr>
              <a:t>Key findings: the four significant drivers</a:t>
            </a:r>
            <a:endParaRPr lang="en-US" sz="2800" dirty="0"/>
          </a:p>
        </p:txBody>
      </p:sp>
      <p:sp>
        <p:nvSpPr>
          <p:cNvPr id="3" name="Badge"/>
          <p:cNvSpPr/>
          <p:nvPr/>
        </p:nvSpPr>
        <p:spPr>
          <a:xfrm>
            <a:off x="457200" y="365760"/>
            <a:ext cx="548640" cy="548640"/>
          </a:xfrm>
          <a:prstGeom prst="ellipse">
            <a:avLst/>
          </a:prstGeom>
          <a:solidFill>
            <a:schemeClr val="accent1"/>
          </a:solidFill>
          <a:ln/>
        </p:spPr>
      </p:sp>
      <p:sp>
        <p:nvSpPr>
          <p:cNvPr id="4" name="Badge number"/>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2200" b="1" dirty="0">
                <a:solidFill>
                  <a:schemeClr val="tx2"/>
                </a:solidFill>
              </a:rPr>
              <a:t>5</a:t>
            </a:r>
            <a:endParaRPr lang="en-US" sz="2200" dirty="0"/>
          </a:p>
        </p:txBody>
      </p:sp>
      <p:sp>
        <p:nvSpPr>
          <p:cNvPr id="5" name="Driver 1"/>
          <p:cNvSpPr/>
          <p:nvPr/>
        </p:nvSpPr>
        <p:spPr>
          <a:xfrm>
            <a:off x="457200" y="1188720"/>
            <a:ext cx="4023360" cy="1554480"/>
          </a:xfrm>
          <a:prstGeom prst="roundRect">
            <a:avLst>
              <a:gd name="adj" fmla="val 4706"/>
            </a:avLst>
          </a:prstGeom>
          <a:solidFill>
            <a:schemeClr val="bg2"/>
          </a:solidFill>
          <a:ln/>
        </p:spPr>
      </p:sp>
      <p:sp>
        <p:nvSpPr>
          <p:cNvPr id="6" name="Driver 1 circle"/>
          <p:cNvSpPr/>
          <p:nvPr/>
        </p:nvSpPr>
        <p:spPr>
          <a:xfrm>
            <a:off x="685800" y="1417320"/>
            <a:ext cx="594360" cy="594360"/>
          </a:xfrm>
          <a:prstGeom prst="ellipse">
            <a:avLst/>
          </a:prstGeom>
          <a:solidFill>
            <a:schemeClr val="accent2"/>
          </a:solidFill>
          <a:ln/>
        </p:spPr>
      </p:sp>
      <p:pic>
        <p:nvPicPr>
          <p:cNvPr id="7" name="Driver 1 icon" descr="preencoded.png">    </p:cNvPr>
          <p:cNvPicPr>
            <a:picLocks noChangeAspect="1"/>
          </p:cNvPicPr>
          <p:nvPr/>
        </p:nvPicPr>
        <p:blipFill>
          <a:blip r:embed="rId1"/>
          <a:stretch>
            <a:fillRect/>
          </a:stretch>
        </p:blipFill>
        <p:spPr>
          <a:xfrm>
            <a:off x="834390" y="1565910"/>
            <a:ext cx="297180" cy="297180"/>
          </a:xfrm>
          <a:prstGeom prst="rect">
            <a:avLst/>
          </a:prstGeom>
        </p:spPr>
      </p:pic>
      <p:sp>
        <p:nvSpPr>
          <p:cNvPr id="8" name="Text 5"/>
          <p:cNvSpPr txBox="1"/>
          <p:nvPr/>
        </p:nvSpPr>
        <p:spPr>
          <a:xfrm>
            <a:off x="1463040" y="1371600"/>
            <a:ext cx="2834640" cy="457200"/>
          </a:xfrm>
          <a:prstGeom prst="rect">
            <a:avLst/>
          </a:prstGeom>
          <a:noFill/>
          <a:ln/>
        </p:spPr>
        <p:txBody>
          <a:bodyPr wrap="square" lIns="0" tIns="0" rIns="0" bIns="0" rtlCol="0" anchor="ctr"/>
          <a:lstStyle/>
          <a:p>
            <a:pPr indent="0" marL="0">
              <a:buNone/>
            </a:pPr>
            <a:r>
              <a:rPr lang="en-US" sz="1500" b="1" dirty="0">
                <a:solidFill>
                  <a:schemeClr val="tx2"/>
                </a:solidFill>
              </a:rPr>
              <a:t>Unemployment ↑ → emigration ↑</a:t>
            </a:r>
            <a:endParaRPr lang="en-US" sz="1500" dirty="0"/>
          </a:p>
        </p:txBody>
      </p:sp>
      <p:sp>
        <p:nvSpPr>
          <p:cNvPr id="9" name="Text 6"/>
          <p:cNvSpPr txBox="1"/>
          <p:nvPr/>
        </p:nvSpPr>
        <p:spPr>
          <a:xfrm>
            <a:off x="1463040" y="1847088"/>
            <a:ext cx="2834640" cy="822960"/>
          </a:xfrm>
          <a:prstGeom prst="rect">
            <a:avLst/>
          </a:prstGeom>
          <a:noFill/>
          <a:ln/>
        </p:spPr>
        <p:txBody>
          <a:bodyPr wrap="square" lIns="0" tIns="0" rIns="0" bIns="0" rtlCol="0" anchor="t"/>
          <a:lstStyle/>
          <a:p>
            <a:pPr indent="0" marL="0">
              <a:buNone/>
            </a:pPr>
            <a:r>
              <a:rPr lang="en-US" sz="1400" dirty="0">
                <a:solidFill>
                  <a:schemeClr val="tx1"/>
                </a:solidFill>
              </a:rPr>
              <a:t>Coefficient +0.236. Migration works as a safety valve for a large jobless labour force.</a:t>
            </a:r>
            <a:endParaRPr lang="en-US" sz="1400" dirty="0"/>
          </a:p>
        </p:txBody>
      </p:sp>
      <p:sp>
        <p:nvSpPr>
          <p:cNvPr id="10" name="Driver 2"/>
          <p:cNvSpPr/>
          <p:nvPr/>
        </p:nvSpPr>
        <p:spPr>
          <a:xfrm>
            <a:off x="4663440" y="1188720"/>
            <a:ext cx="4023360" cy="1554480"/>
          </a:xfrm>
          <a:prstGeom prst="roundRect">
            <a:avLst>
              <a:gd name="adj" fmla="val 4706"/>
            </a:avLst>
          </a:prstGeom>
          <a:solidFill>
            <a:schemeClr val="bg2"/>
          </a:solidFill>
          <a:ln/>
        </p:spPr>
      </p:sp>
      <p:sp>
        <p:nvSpPr>
          <p:cNvPr id="11" name="Driver 2 circle"/>
          <p:cNvSpPr/>
          <p:nvPr/>
        </p:nvSpPr>
        <p:spPr>
          <a:xfrm>
            <a:off x="4892040" y="1417320"/>
            <a:ext cx="594360" cy="594360"/>
          </a:xfrm>
          <a:prstGeom prst="ellipse">
            <a:avLst/>
          </a:prstGeom>
          <a:solidFill>
            <a:schemeClr val="tx2"/>
          </a:solidFill>
          <a:ln/>
        </p:spPr>
      </p:sp>
      <p:pic>
        <p:nvPicPr>
          <p:cNvPr id="12" name="Driver 2 icon" descr="preencoded.png">    </p:cNvPr>
          <p:cNvPicPr>
            <a:picLocks noChangeAspect="1"/>
          </p:cNvPicPr>
          <p:nvPr/>
        </p:nvPicPr>
        <p:blipFill>
          <a:blip r:embed="rId2"/>
          <a:stretch>
            <a:fillRect/>
          </a:stretch>
        </p:blipFill>
        <p:spPr>
          <a:xfrm>
            <a:off x="5040630" y="1565910"/>
            <a:ext cx="297180" cy="297180"/>
          </a:xfrm>
          <a:prstGeom prst="rect">
            <a:avLst/>
          </a:prstGeom>
        </p:spPr>
      </p:pic>
      <p:sp>
        <p:nvSpPr>
          <p:cNvPr id="13" name="Text 9"/>
          <p:cNvSpPr txBox="1"/>
          <p:nvPr/>
        </p:nvSpPr>
        <p:spPr>
          <a:xfrm>
            <a:off x="5669280" y="1371600"/>
            <a:ext cx="2834640" cy="457200"/>
          </a:xfrm>
          <a:prstGeom prst="rect">
            <a:avLst/>
          </a:prstGeom>
          <a:noFill/>
          <a:ln/>
        </p:spPr>
        <p:txBody>
          <a:bodyPr wrap="square" lIns="0" tIns="0" rIns="0" bIns="0" rtlCol="0" anchor="ctr"/>
          <a:lstStyle/>
          <a:p>
            <a:pPr indent="0" marL="0">
              <a:buNone/>
            </a:pPr>
            <a:r>
              <a:rPr lang="en-US" sz="1500" b="1" dirty="0">
                <a:solidFill>
                  <a:schemeClr val="tx2"/>
                </a:solidFill>
              </a:rPr>
              <a:t>Adult literacy ↑ → emigration ↓</a:t>
            </a:r>
            <a:endParaRPr lang="en-US" sz="1500" dirty="0"/>
          </a:p>
        </p:txBody>
      </p:sp>
      <p:sp>
        <p:nvSpPr>
          <p:cNvPr id="14" name="Text 10"/>
          <p:cNvSpPr txBox="1"/>
          <p:nvPr/>
        </p:nvSpPr>
        <p:spPr>
          <a:xfrm>
            <a:off x="5669280" y="1847088"/>
            <a:ext cx="2834640" cy="822960"/>
          </a:xfrm>
          <a:prstGeom prst="rect">
            <a:avLst/>
          </a:prstGeom>
          <a:noFill/>
          <a:ln/>
        </p:spPr>
        <p:txBody>
          <a:bodyPr wrap="square" lIns="0" tIns="0" rIns="0" bIns="0" rtlCol="0" anchor="t"/>
          <a:lstStyle/>
          <a:p>
            <a:pPr indent="0" marL="0">
              <a:buNone/>
            </a:pPr>
            <a:r>
              <a:rPr lang="en-US" sz="1400" dirty="0">
                <a:solidFill>
                  <a:schemeClr val="tx1"/>
                </a:solidFill>
              </a:rPr>
              <a:t>Coefficient −0.659. Contradicts human capital theory; the authors say migrants are mostly low-skilled.</a:t>
            </a:r>
            <a:endParaRPr lang="en-US" sz="1400" dirty="0"/>
          </a:p>
        </p:txBody>
      </p:sp>
      <p:sp>
        <p:nvSpPr>
          <p:cNvPr id="15" name="Driver 3"/>
          <p:cNvSpPr/>
          <p:nvPr/>
        </p:nvSpPr>
        <p:spPr>
          <a:xfrm>
            <a:off x="457200" y="2926080"/>
            <a:ext cx="4023360" cy="1554480"/>
          </a:xfrm>
          <a:prstGeom prst="roundRect">
            <a:avLst>
              <a:gd name="adj" fmla="val 4706"/>
            </a:avLst>
          </a:prstGeom>
          <a:solidFill>
            <a:schemeClr val="bg2"/>
          </a:solidFill>
          <a:ln/>
        </p:spPr>
      </p:sp>
      <p:sp>
        <p:nvSpPr>
          <p:cNvPr id="16" name="Driver 3 circle"/>
          <p:cNvSpPr/>
          <p:nvPr/>
        </p:nvSpPr>
        <p:spPr>
          <a:xfrm>
            <a:off x="685800" y="3154680"/>
            <a:ext cx="594360" cy="594360"/>
          </a:xfrm>
          <a:prstGeom prst="ellipse">
            <a:avLst/>
          </a:prstGeom>
          <a:solidFill>
            <a:schemeClr val="tx2"/>
          </a:solidFill>
          <a:ln/>
        </p:spPr>
      </p:sp>
      <p:pic>
        <p:nvPicPr>
          <p:cNvPr id="17" name="Driver 3 icon" descr="preencoded.png">    </p:cNvPr>
          <p:cNvPicPr>
            <a:picLocks noChangeAspect="1"/>
          </p:cNvPicPr>
          <p:nvPr/>
        </p:nvPicPr>
        <p:blipFill>
          <a:blip r:embed="rId3"/>
          <a:stretch>
            <a:fillRect/>
          </a:stretch>
        </p:blipFill>
        <p:spPr>
          <a:xfrm>
            <a:off x="834390" y="3303270"/>
            <a:ext cx="297180" cy="297180"/>
          </a:xfrm>
          <a:prstGeom prst="rect">
            <a:avLst/>
          </a:prstGeom>
        </p:spPr>
      </p:pic>
      <p:sp>
        <p:nvSpPr>
          <p:cNvPr id="18" name="Text 13"/>
          <p:cNvSpPr txBox="1"/>
          <p:nvPr/>
        </p:nvSpPr>
        <p:spPr>
          <a:xfrm>
            <a:off x="1463040" y="3108960"/>
            <a:ext cx="2834640" cy="457200"/>
          </a:xfrm>
          <a:prstGeom prst="rect">
            <a:avLst/>
          </a:prstGeom>
          <a:noFill/>
          <a:ln/>
        </p:spPr>
        <p:txBody>
          <a:bodyPr wrap="square" lIns="0" tIns="0" rIns="0" bIns="0" rtlCol="0" anchor="ctr"/>
          <a:lstStyle/>
          <a:p>
            <a:pPr indent="0" marL="0">
              <a:buNone/>
            </a:pPr>
            <a:r>
              <a:rPr lang="en-US" sz="1500" b="1" dirty="0">
                <a:solidFill>
                  <a:schemeClr val="tx2"/>
                </a:solidFill>
              </a:rPr>
              <a:t>Instability ↑ → emigration ↓</a:t>
            </a:r>
            <a:endParaRPr lang="en-US" sz="1500" dirty="0"/>
          </a:p>
        </p:txBody>
      </p:sp>
      <p:sp>
        <p:nvSpPr>
          <p:cNvPr id="19" name="Text 14"/>
          <p:cNvSpPr txBox="1"/>
          <p:nvPr/>
        </p:nvSpPr>
        <p:spPr>
          <a:xfrm>
            <a:off x="1463040" y="3584448"/>
            <a:ext cx="2834640" cy="822960"/>
          </a:xfrm>
          <a:prstGeom prst="rect">
            <a:avLst/>
          </a:prstGeom>
          <a:noFill/>
          <a:ln/>
        </p:spPr>
        <p:txBody>
          <a:bodyPr wrap="square" lIns="0" tIns="0" rIns="0" bIns="0" rtlCol="0" anchor="t"/>
          <a:lstStyle/>
          <a:p>
            <a:pPr indent="0" marL="0">
              <a:buNone/>
            </a:pPr>
            <a:r>
              <a:rPr lang="en-US" sz="1400" dirty="0">
                <a:solidFill>
                  <a:schemeClr val="tx1"/>
                </a:solidFill>
              </a:rPr>
              <a:t>Coefficient −0.482. Migration fell in turbulent years (1983, 1986, 2001, 2005).</a:t>
            </a:r>
            <a:endParaRPr lang="en-US" sz="1400" dirty="0"/>
          </a:p>
        </p:txBody>
      </p:sp>
      <p:sp>
        <p:nvSpPr>
          <p:cNvPr id="20" name="Driver 4"/>
          <p:cNvSpPr/>
          <p:nvPr/>
        </p:nvSpPr>
        <p:spPr>
          <a:xfrm>
            <a:off x="4663440" y="2926080"/>
            <a:ext cx="4023360" cy="1554480"/>
          </a:xfrm>
          <a:prstGeom prst="roundRect">
            <a:avLst>
              <a:gd name="adj" fmla="val 4706"/>
            </a:avLst>
          </a:prstGeom>
          <a:solidFill>
            <a:schemeClr val="bg2"/>
          </a:solidFill>
          <a:ln/>
        </p:spPr>
      </p:sp>
      <p:sp>
        <p:nvSpPr>
          <p:cNvPr id="21" name="Driver 4 circle"/>
          <p:cNvSpPr/>
          <p:nvPr/>
        </p:nvSpPr>
        <p:spPr>
          <a:xfrm>
            <a:off x="4892040" y="3154680"/>
            <a:ext cx="594360" cy="594360"/>
          </a:xfrm>
          <a:prstGeom prst="ellipse">
            <a:avLst/>
          </a:prstGeom>
          <a:solidFill>
            <a:schemeClr val="tx2"/>
          </a:solidFill>
          <a:ln/>
        </p:spPr>
      </p:sp>
      <p:pic>
        <p:nvPicPr>
          <p:cNvPr id="22" name="Driver 4 icon" descr="preencoded.png">    </p:cNvPr>
          <p:cNvPicPr>
            <a:picLocks noChangeAspect="1"/>
          </p:cNvPicPr>
          <p:nvPr/>
        </p:nvPicPr>
        <p:blipFill>
          <a:blip r:embed="rId4"/>
          <a:stretch>
            <a:fillRect/>
          </a:stretch>
        </p:blipFill>
        <p:spPr>
          <a:xfrm>
            <a:off x="5040630" y="3303270"/>
            <a:ext cx="297180" cy="297180"/>
          </a:xfrm>
          <a:prstGeom prst="rect">
            <a:avLst/>
          </a:prstGeom>
        </p:spPr>
      </p:pic>
      <p:sp>
        <p:nvSpPr>
          <p:cNvPr id="23" name="Text 17"/>
          <p:cNvSpPr txBox="1"/>
          <p:nvPr/>
        </p:nvSpPr>
        <p:spPr>
          <a:xfrm>
            <a:off x="5669280" y="3108960"/>
            <a:ext cx="2834640" cy="457200"/>
          </a:xfrm>
          <a:prstGeom prst="rect">
            <a:avLst/>
          </a:prstGeom>
          <a:noFill/>
          <a:ln/>
        </p:spPr>
        <p:txBody>
          <a:bodyPr wrap="square" lIns="0" tIns="0" rIns="0" bIns="0" rtlCol="0" anchor="ctr"/>
          <a:lstStyle/>
          <a:p>
            <a:pPr indent="0" marL="0">
              <a:buNone/>
            </a:pPr>
            <a:r>
              <a:rPr lang="en-US" sz="1500" b="1" dirty="0">
                <a:solidFill>
                  <a:schemeClr val="tx2"/>
                </a:solidFill>
              </a:rPr>
              <a:t>Density ↑ → emigration ↓</a:t>
            </a:r>
            <a:endParaRPr lang="en-US" sz="1500" dirty="0"/>
          </a:p>
        </p:txBody>
      </p:sp>
      <p:sp>
        <p:nvSpPr>
          <p:cNvPr id="24" name="Text 18"/>
          <p:cNvSpPr txBox="1"/>
          <p:nvPr/>
        </p:nvSpPr>
        <p:spPr>
          <a:xfrm>
            <a:off x="5669280" y="3584448"/>
            <a:ext cx="2834640" cy="822960"/>
          </a:xfrm>
          <a:prstGeom prst="rect">
            <a:avLst/>
          </a:prstGeom>
          <a:noFill/>
          <a:ln/>
        </p:spPr>
        <p:txBody>
          <a:bodyPr wrap="square" lIns="0" tIns="0" rIns="0" bIns="0" rtlCol="0" anchor="t"/>
          <a:lstStyle/>
          <a:p>
            <a:pPr indent="0" marL="0">
              <a:buNone/>
            </a:pPr>
            <a:r>
              <a:rPr lang="en-US" sz="1400" dirty="0">
                <a:solidFill>
                  <a:schemeClr val="tx1"/>
                </a:solidFill>
              </a:rPr>
              <a:t>Coefficient −0.254. Opposite of what was expected; the authors leave it unexplained.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1143000" y="320040"/>
            <a:ext cx="7543800" cy="640080"/>
          </a:xfrm>
          <a:prstGeom prst="rect">
            <a:avLst/>
          </a:prstGeom>
          <a:noFill/>
          <a:ln/>
        </p:spPr>
        <p:txBody>
          <a:bodyPr wrap="square" lIns="0" tIns="0" rIns="0" bIns="0" rtlCol="0" anchor="ctr"/>
          <a:lstStyle/>
          <a:p>
            <a:pPr algn="l" indent="0" marL="0">
              <a:buNone/>
            </a:pPr>
            <a:r>
              <a:rPr lang="en-US" sz="2800" b="1" dirty="0">
                <a:solidFill>
                  <a:schemeClr val="tx2"/>
                </a:solidFill>
              </a:rPr>
              <a:t>Key findings: other results and conclusions</a:t>
            </a:r>
            <a:endParaRPr lang="en-US" sz="2800" dirty="0"/>
          </a:p>
        </p:txBody>
      </p:sp>
      <p:sp>
        <p:nvSpPr>
          <p:cNvPr id="3" name="Badge"/>
          <p:cNvSpPr/>
          <p:nvPr/>
        </p:nvSpPr>
        <p:spPr>
          <a:xfrm>
            <a:off x="457200" y="365760"/>
            <a:ext cx="548640" cy="548640"/>
          </a:xfrm>
          <a:prstGeom prst="ellipse">
            <a:avLst/>
          </a:prstGeom>
          <a:solidFill>
            <a:schemeClr val="accent1"/>
          </a:solidFill>
          <a:ln/>
        </p:spPr>
      </p:sp>
      <p:sp>
        <p:nvSpPr>
          <p:cNvPr id="4" name="Badge number"/>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2200" b="1" dirty="0">
                <a:solidFill>
                  <a:schemeClr val="tx2"/>
                </a:solidFill>
              </a:rPr>
              <a:t>5</a:t>
            </a:r>
            <a:endParaRPr lang="en-US" sz="2200" dirty="0"/>
          </a:p>
        </p:txBody>
      </p:sp>
      <p:sp>
        <p:nvSpPr>
          <p:cNvPr id="5" name="Not significant card"/>
          <p:cNvSpPr/>
          <p:nvPr/>
        </p:nvSpPr>
        <p:spPr>
          <a:xfrm>
            <a:off x="457200" y="1188720"/>
            <a:ext cx="3840480" cy="3383280"/>
          </a:xfrm>
          <a:prstGeom prst="roundRect">
            <a:avLst>
              <a:gd name="adj" fmla="val 2162"/>
            </a:avLst>
          </a:prstGeom>
          <a:solidFill>
            <a:schemeClr val="bg2"/>
          </a:solidFill>
          <a:ln/>
        </p:spPr>
      </p:sp>
      <p:sp>
        <p:nvSpPr>
          <p:cNvPr id="6" name="Text 4"/>
          <p:cNvSpPr txBox="1"/>
          <p:nvPr/>
        </p:nvSpPr>
        <p:spPr>
          <a:xfrm>
            <a:off x="731520" y="1325880"/>
            <a:ext cx="3383280" cy="365760"/>
          </a:xfrm>
          <a:prstGeom prst="rect">
            <a:avLst/>
          </a:prstGeom>
          <a:noFill/>
          <a:ln/>
        </p:spPr>
        <p:txBody>
          <a:bodyPr wrap="square" lIns="0" tIns="0" rIns="0" bIns="0" rtlCol="0" anchor="t"/>
          <a:lstStyle/>
          <a:p>
            <a:pPr indent="0" marL="0">
              <a:buNone/>
            </a:pPr>
            <a:r>
              <a:rPr lang="en-US" sz="1800" b="1" dirty="0">
                <a:solidFill>
                  <a:schemeClr val="tx2"/>
                </a:solidFill>
              </a:rPr>
              <a:t>Not significant at 5%</a:t>
            </a:r>
            <a:endParaRPr lang="en-US" sz="1800" dirty="0"/>
          </a:p>
        </p:txBody>
      </p:sp>
      <p:sp>
        <p:nvSpPr>
          <p:cNvPr id="7" name="Text 5"/>
          <p:cNvSpPr txBox="1"/>
          <p:nvPr/>
        </p:nvSpPr>
        <p:spPr>
          <a:xfrm>
            <a:off x="731520" y="1783080"/>
            <a:ext cx="338328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Cost of migration and per capita income: negative, as expected, but insignificant</a:t>
            </a:r>
            <a:endParaRPr lang="en-US" sz="1400" dirty="0"/>
          </a:p>
          <a:p>
            <a:pPr marL="342900" indent="-342900">
              <a:spcAft>
                <a:spcPts val="800"/>
              </a:spcAft>
              <a:buSzPct val="100000"/>
              <a:buChar char="•"/>
            </a:pPr>
            <a:r>
              <a:rPr lang="en-US" sz="1400" dirty="0">
                <a:solidFill>
                  <a:schemeClr val="tx1"/>
                </a:solidFill>
              </a:rPr>
              <a:t>Inflation: negative but insignificant</a:t>
            </a:r>
            <a:endParaRPr lang="en-US" sz="1400" dirty="0"/>
          </a:p>
          <a:p>
            <a:pPr marL="342900" indent="-342900">
              <a:spcAft>
                <a:spcPts val="800"/>
              </a:spcAft>
              <a:buSzPct val="100000"/>
              <a:buChar char="•"/>
            </a:pPr>
            <a:r>
              <a:rPr lang="en-US" sz="1400" dirty="0">
                <a:solidFill>
                  <a:schemeClr val="tx1"/>
                </a:solidFill>
              </a:rPr>
              <a:t>Inequality and inequality²: insignificant, so the Roy effect does not hold for the Philippines</a:t>
            </a:r>
            <a:endParaRPr lang="en-US" sz="1400" dirty="0"/>
          </a:p>
        </p:txBody>
      </p:sp>
      <p:sp>
        <p:nvSpPr>
          <p:cNvPr id="8" name="Text 6"/>
          <p:cNvSpPr txBox="1"/>
          <p:nvPr/>
        </p:nvSpPr>
        <p:spPr>
          <a:xfrm>
            <a:off x="4572000" y="1234440"/>
            <a:ext cx="4114800" cy="365760"/>
          </a:xfrm>
          <a:prstGeom prst="rect">
            <a:avLst/>
          </a:prstGeom>
          <a:noFill/>
          <a:ln/>
        </p:spPr>
        <p:txBody>
          <a:bodyPr wrap="square" lIns="0" tIns="0" rIns="0" bIns="0" rtlCol="0" anchor="t"/>
          <a:lstStyle/>
          <a:p>
            <a:pPr indent="0" marL="0">
              <a:buNone/>
            </a:pPr>
            <a:r>
              <a:rPr lang="en-US" sz="1700" b="1" dirty="0">
                <a:solidFill>
                  <a:schemeClr val="tx2"/>
                </a:solidFill>
              </a:rPr>
              <a:t>Authors’ conclusions and policy implications</a:t>
            </a:r>
            <a:endParaRPr lang="en-US" sz="1700" dirty="0"/>
          </a:p>
        </p:txBody>
      </p:sp>
      <p:sp>
        <p:nvSpPr>
          <p:cNvPr id="9" name="Conclusion 1 circle"/>
          <p:cNvSpPr/>
          <p:nvPr/>
        </p:nvSpPr>
        <p:spPr>
          <a:xfrm>
            <a:off x="4572000" y="1737360"/>
            <a:ext cx="457200" cy="457200"/>
          </a:xfrm>
          <a:prstGeom prst="ellipse">
            <a:avLst/>
          </a:prstGeom>
          <a:solidFill>
            <a:schemeClr val="accent3"/>
          </a:solidFill>
          <a:ln/>
        </p:spPr>
      </p:sp>
      <p:pic>
        <p:nvPicPr>
          <p:cNvPr id="10" name="Conclusion 1 icon" descr="preencoded.png">    </p:cNvPr>
          <p:cNvPicPr>
            <a:picLocks noChangeAspect="1"/>
          </p:cNvPicPr>
          <p:nvPr/>
        </p:nvPicPr>
        <p:blipFill>
          <a:blip r:embed="rId1"/>
          <a:stretch>
            <a:fillRect/>
          </a:stretch>
        </p:blipFill>
        <p:spPr>
          <a:xfrm>
            <a:off x="4686300" y="1851660"/>
            <a:ext cx="228600" cy="228600"/>
          </a:xfrm>
          <a:prstGeom prst="rect">
            <a:avLst/>
          </a:prstGeom>
        </p:spPr>
      </p:pic>
      <p:sp>
        <p:nvSpPr>
          <p:cNvPr id="11" name="Text 8"/>
          <p:cNvSpPr txBox="1"/>
          <p:nvPr/>
        </p:nvSpPr>
        <p:spPr>
          <a:xfrm>
            <a:off x="5212080" y="1691640"/>
            <a:ext cx="3474720" cy="566928"/>
          </a:xfrm>
          <a:prstGeom prst="rect">
            <a:avLst/>
          </a:prstGeom>
          <a:noFill/>
          <a:ln/>
        </p:spPr>
        <p:txBody>
          <a:bodyPr wrap="square" lIns="0" tIns="0" rIns="0" bIns="0" rtlCol="0" anchor="ctr"/>
          <a:lstStyle/>
          <a:p>
            <a:pPr indent="0" marL="0">
              <a:buNone/>
            </a:pPr>
            <a:r>
              <a:rPr lang="en-US" sz="1400" dirty="0">
                <a:solidFill>
                  <a:schemeClr val="tx1"/>
                </a:solidFill>
              </a:rPr>
              <a:t>Key determinants: literacy, unemployment, population density and political instability</a:t>
            </a:r>
            <a:endParaRPr lang="en-US" sz="1400" dirty="0"/>
          </a:p>
        </p:txBody>
      </p:sp>
      <p:sp>
        <p:nvSpPr>
          <p:cNvPr id="12" name="Conclusion 2 circle"/>
          <p:cNvSpPr/>
          <p:nvPr/>
        </p:nvSpPr>
        <p:spPr>
          <a:xfrm>
            <a:off x="4572000" y="2450592"/>
            <a:ext cx="457200" cy="457200"/>
          </a:xfrm>
          <a:prstGeom prst="ellipse">
            <a:avLst/>
          </a:prstGeom>
          <a:solidFill>
            <a:schemeClr val="accent3"/>
          </a:solidFill>
          <a:ln/>
        </p:spPr>
      </p:sp>
      <p:pic>
        <p:nvPicPr>
          <p:cNvPr id="13" name="Conclusion 2 icon" descr="preencoded.png">    </p:cNvPr>
          <p:cNvPicPr>
            <a:picLocks noChangeAspect="1"/>
          </p:cNvPicPr>
          <p:nvPr/>
        </p:nvPicPr>
        <p:blipFill>
          <a:blip r:embed="rId2"/>
          <a:stretch>
            <a:fillRect/>
          </a:stretch>
        </p:blipFill>
        <p:spPr>
          <a:xfrm>
            <a:off x="4686300" y="2564892"/>
            <a:ext cx="228600" cy="228600"/>
          </a:xfrm>
          <a:prstGeom prst="rect">
            <a:avLst/>
          </a:prstGeom>
        </p:spPr>
      </p:pic>
      <p:sp>
        <p:nvSpPr>
          <p:cNvPr id="14" name="Text 10"/>
          <p:cNvSpPr txBox="1"/>
          <p:nvPr/>
        </p:nvSpPr>
        <p:spPr>
          <a:xfrm>
            <a:off x="5212080" y="2404872"/>
            <a:ext cx="3474720" cy="566928"/>
          </a:xfrm>
          <a:prstGeom prst="rect">
            <a:avLst/>
          </a:prstGeom>
          <a:noFill/>
          <a:ln/>
        </p:spPr>
        <p:txBody>
          <a:bodyPr wrap="square" lIns="0" tIns="0" rIns="0" bIns="0" rtlCol="0" anchor="ctr"/>
          <a:lstStyle/>
          <a:p>
            <a:pPr indent="0" marL="0">
              <a:buNone/>
            </a:pPr>
            <a:r>
              <a:rPr lang="en-US" sz="1400" dirty="0">
                <a:solidFill>
                  <a:schemeClr val="tx1"/>
                </a:solidFill>
              </a:rPr>
              <a:t>Collect and monitor migration statistics better</a:t>
            </a:r>
            <a:endParaRPr lang="en-US" sz="1400" dirty="0"/>
          </a:p>
        </p:txBody>
      </p:sp>
      <p:sp>
        <p:nvSpPr>
          <p:cNvPr id="15" name="Conclusion 3 circle"/>
          <p:cNvSpPr/>
          <p:nvPr/>
        </p:nvSpPr>
        <p:spPr>
          <a:xfrm>
            <a:off x="4572000" y="3163824"/>
            <a:ext cx="457200" cy="457200"/>
          </a:xfrm>
          <a:prstGeom prst="ellipse">
            <a:avLst/>
          </a:prstGeom>
          <a:solidFill>
            <a:schemeClr val="accent3"/>
          </a:solidFill>
          <a:ln/>
        </p:spPr>
      </p:sp>
      <p:pic>
        <p:nvPicPr>
          <p:cNvPr id="16" name="Conclusion 3 icon" descr="preencoded.png">    </p:cNvPr>
          <p:cNvPicPr>
            <a:picLocks noChangeAspect="1"/>
          </p:cNvPicPr>
          <p:nvPr/>
        </p:nvPicPr>
        <p:blipFill>
          <a:blip r:embed="rId3"/>
          <a:stretch>
            <a:fillRect/>
          </a:stretch>
        </p:blipFill>
        <p:spPr>
          <a:xfrm>
            <a:off x="4686300" y="3278124"/>
            <a:ext cx="228600" cy="228600"/>
          </a:xfrm>
          <a:prstGeom prst="rect">
            <a:avLst/>
          </a:prstGeom>
        </p:spPr>
      </p:pic>
      <p:sp>
        <p:nvSpPr>
          <p:cNvPr id="17" name="Text 12"/>
          <p:cNvSpPr txBox="1"/>
          <p:nvPr/>
        </p:nvSpPr>
        <p:spPr>
          <a:xfrm>
            <a:off x="5212080" y="3118104"/>
            <a:ext cx="3474720" cy="566928"/>
          </a:xfrm>
          <a:prstGeom prst="rect">
            <a:avLst/>
          </a:prstGeom>
          <a:noFill/>
          <a:ln/>
        </p:spPr>
        <p:txBody>
          <a:bodyPr wrap="square" lIns="0" tIns="0" rIns="0" bIns="0" rtlCol="0" anchor="ctr"/>
          <a:lstStyle/>
          <a:p>
            <a:pPr indent="0" marL="0">
              <a:buNone/>
            </a:pPr>
            <a:r>
              <a:rPr lang="en-US" sz="1400" dirty="0">
                <a:solidFill>
                  <a:schemeClr val="tx1"/>
                </a:solidFill>
              </a:rPr>
              <a:t>Use bilateral agreements to protect overseas Filipino workers</a:t>
            </a:r>
            <a:endParaRPr lang="en-US" sz="1400" dirty="0"/>
          </a:p>
        </p:txBody>
      </p:sp>
      <p:sp>
        <p:nvSpPr>
          <p:cNvPr id="18" name="Conclusion 4 circle"/>
          <p:cNvSpPr/>
          <p:nvPr/>
        </p:nvSpPr>
        <p:spPr>
          <a:xfrm>
            <a:off x="4572000" y="3877056"/>
            <a:ext cx="457200" cy="457200"/>
          </a:xfrm>
          <a:prstGeom prst="ellipse">
            <a:avLst/>
          </a:prstGeom>
          <a:solidFill>
            <a:schemeClr val="accent3"/>
          </a:solidFill>
          <a:ln/>
        </p:spPr>
      </p:sp>
      <p:pic>
        <p:nvPicPr>
          <p:cNvPr id="19" name="Conclusion 4 icon" descr="preencoded.png">    </p:cNvPr>
          <p:cNvPicPr>
            <a:picLocks noChangeAspect="1"/>
          </p:cNvPicPr>
          <p:nvPr/>
        </p:nvPicPr>
        <p:blipFill>
          <a:blip r:embed="rId4"/>
          <a:stretch>
            <a:fillRect/>
          </a:stretch>
        </p:blipFill>
        <p:spPr>
          <a:xfrm>
            <a:off x="4686300" y="3991356"/>
            <a:ext cx="228600" cy="228600"/>
          </a:xfrm>
          <a:prstGeom prst="rect">
            <a:avLst/>
          </a:prstGeom>
        </p:spPr>
      </p:pic>
      <p:sp>
        <p:nvSpPr>
          <p:cNvPr id="20" name="Text 14"/>
          <p:cNvSpPr txBox="1"/>
          <p:nvPr/>
        </p:nvSpPr>
        <p:spPr>
          <a:xfrm>
            <a:off x="5212080" y="3831336"/>
            <a:ext cx="3474720" cy="566928"/>
          </a:xfrm>
          <a:prstGeom prst="rect">
            <a:avLst/>
          </a:prstGeom>
          <a:noFill/>
          <a:ln/>
        </p:spPr>
        <p:txBody>
          <a:bodyPr wrap="square" lIns="0" tIns="0" rIns="0" bIns="0" rtlCol="0" anchor="ctr"/>
          <a:lstStyle/>
          <a:p>
            <a:pPr indent="0" marL="0">
              <a:buNone/>
            </a:pPr>
            <a:r>
              <a:rPr lang="en-US" sz="1400" dirty="0">
                <a:solidFill>
                  <a:schemeClr val="tx1"/>
                </a:solidFill>
              </a:rPr>
              <a:t>Build a domestic economy that absorbs labour and depends less on foreign demand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1143000" y="320040"/>
            <a:ext cx="7543800" cy="640080"/>
          </a:xfrm>
          <a:prstGeom prst="rect">
            <a:avLst/>
          </a:prstGeom>
          <a:noFill/>
          <a:ln/>
        </p:spPr>
        <p:txBody>
          <a:bodyPr wrap="square" lIns="0" tIns="0" rIns="0" bIns="0" rtlCol="0" anchor="ctr"/>
          <a:lstStyle/>
          <a:p>
            <a:pPr algn="l" indent="0" marL="0">
              <a:buNone/>
            </a:pPr>
            <a:r>
              <a:rPr lang="en-US" sz="2800" b="1" dirty="0">
                <a:solidFill>
                  <a:schemeClr val="tx2"/>
                </a:solidFill>
              </a:rPr>
              <a:t>Critical assessment of the study</a:t>
            </a:r>
            <a:endParaRPr lang="en-US" sz="2800" dirty="0"/>
          </a:p>
        </p:txBody>
      </p:sp>
      <p:sp>
        <p:nvSpPr>
          <p:cNvPr id="3" name="Badge"/>
          <p:cNvSpPr/>
          <p:nvPr/>
        </p:nvSpPr>
        <p:spPr>
          <a:xfrm>
            <a:off x="457200" y="365760"/>
            <a:ext cx="548640" cy="548640"/>
          </a:xfrm>
          <a:prstGeom prst="ellipse">
            <a:avLst/>
          </a:prstGeom>
          <a:solidFill>
            <a:schemeClr val="accent1"/>
          </a:solidFill>
          <a:ln/>
        </p:spPr>
      </p:sp>
      <p:pic>
        <p:nvPicPr>
          <p:cNvPr id="4" name="Badge icon" descr="preencoded.png">    </p:cNvPr>
          <p:cNvPicPr>
            <a:picLocks noChangeAspect="1"/>
          </p:cNvPicPr>
          <p:nvPr/>
        </p:nvPicPr>
        <p:blipFill>
          <a:blip r:embed="rId1"/>
          <a:stretch>
            <a:fillRect/>
          </a:stretch>
        </p:blipFill>
        <p:spPr>
          <a:xfrm>
            <a:off x="594360" y="502920"/>
            <a:ext cx="274320" cy="274320"/>
          </a:xfrm>
          <a:prstGeom prst="rect">
            <a:avLst/>
          </a:prstGeom>
        </p:spPr>
      </p:pic>
      <p:sp>
        <p:nvSpPr>
          <p:cNvPr id="5" name="Strengths circle"/>
          <p:cNvSpPr/>
          <p:nvPr/>
        </p:nvSpPr>
        <p:spPr>
          <a:xfrm>
            <a:off x="457200" y="1143000"/>
            <a:ext cx="457200" cy="457200"/>
          </a:xfrm>
          <a:prstGeom prst="ellipse">
            <a:avLst/>
          </a:prstGeom>
          <a:solidFill>
            <a:schemeClr val="accent3"/>
          </a:solidFill>
          <a:ln/>
        </p:spPr>
      </p:sp>
      <p:pic>
        <p:nvPicPr>
          <p:cNvPr id="6" name="Strengths icon" descr="preencoded.png">    </p:cNvPr>
          <p:cNvPicPr>
            <a:picLocks noChangeAspect="1"/>
          </p:cNvPicPr>
          <p:nvPr/>
        </p:nvPicPr>
        <p:blipFill>
          <a:blip r:embed="rId2"/>
          <a:stretch>
            <a:fillRect/>
          </a:stretch>
        </p:blipFill>
        <p:spPr>
          <a:xfrm>
            <a:off x="571500" y="1257300"/>
            <a:ext cx="228600" cy="228600"/>
          </a:xfrm>
          <a:prstGeom prst="rect">
            <a:avLst/>
          </a:prstGeom>
        </p:spPr>
      </p:pic>
      <p:sp>
        <p:nvSpPr>
          <p:cNvPr id="7" name="Text 3"/>
          <p:cNvSpPr txBox="1"/>
          <p:nvPr/>
        </p:nvSpPr>
        <p:spPr>
          <a:xfrm>
            <a:off x="1051560" y="1143000"/>
            <a:ext cx="3200400" cy="457200"/>
          </a:xfrm>
          <a:prstGeom prst="rect">
            <a:avLst/>
          </a:prstGeom>
          <a:noFill/>
          <a:ln/>
        </p:spPr>
        <p:txBody>
          <a:bodyPr wrap="square" lIns="0" tIns="0" rIns="0" bIns="0" rtlCol="0" anchor="ctr"/>
          <a:lstStyle/>
          <a:p>
            <a:pPr indent="0" marL="0">
              <a:buNone/>
            </a:pPr>
            <a:r>
              <a:rPr lang="en-US" sz="1800" b="1" dirty="0">
                <a:solidFill>
                  <a:schemeClr val="tx2"/>
                </a:solidFill>
              </a:rPr>
              <a:t>Strengths</a:t>
            </a:r>
            <a:endParaRPr lang="en-US" sz="1800" dirty="0"/>
          </a:p>
        </p:txBody>
      </p:sp>
      <p:sp>
        <p:nvSpPr>
          <p:cNvPr id="8" name="Text 4"/>
          <p:cNvSpPr txBox="1"/>
          <p:nvPr/>
        </p:nvSpPr>
        <p:spPr>
          <a:xfrm>
            <a:off x="457200" y="1737360"/>
            <a:ext cx="3886200" cy="2880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Policy-relevant question for a major labour exporter</a:t>
            </a:r>
            <a:endParaRPr lang="en-US" sz="1400" dirty="0"/>
          </a:p>
          <a:p>
            <a:pPr marL="342900" indent="-342900">
              <a:spcAft>
                <a:spcPts val="600"/>
              </a:spcAft>
              <a:buSzPct val="100000"/>
              <a:buChar char="•"/>
            </a:pPr>
            <a:r>
              <a:rPr lang="en-US" sz="1400" dirty="0">
                <a:solidFill>
                  <a:schemeClr val="tx1"/>
                </a:solidFill>
              </a:rPr>
              <a:t>Thorough sequence of unit-root, cointegration and ECM tests</a:t>
            </a:r>
            <a:endParaRPr lang="en-US" sz="1400" dirty="0"/>
          </a:p>
          <a:p>
            <a:pPr marL="342900" indent="-342900">
              <a:spcAft>
                <a:spcPts val="600"/>
              </a:spcAft>
              <a:buSzPct val="100000"/>
              <a:buChar char="•"/>
            </a:pPr>
            <a:r>
              <a:rPr lang="en-US" sz="1400" dirty="0">
                <a:solidFill>
                  <a:schemeClr val="tx1"/>
                </a:solidFill>
              </a:rPr>
              <a:t>Full diagnostics reported; model is well specified</a:t>
            </a:r>
            <a:endParaRPr lang="en-US" sz="1400" dirty="0"/>
          </a:p>
          <a:p>
            <a:pPr marL="342900" indent="-342900">
              <a:spcAft>
                <a:spcPts val="600"/>
              </a:spcAft>
              <a:buSzPct val="100000"/>
              <a:buChar char="•"/>
            </a:pPr>
            <a:r>
              <a:rPr lang="en-US" sz="1400" dirty="0">
                <a:solidFill>
                  <a:schemeClr val="tx1"/>
                </a:solidFill>
              </a:rPr>
              <a:t>Rich policy context (RA 8042 ambiguity)</a:t>
            </a:r>
            <a:endParaRPr lang="en-US" sz="1400" dirty="0"/>
          </a:p>
        </p:txBody>
      </p:sp>
      <p:sp>
        <p:nvSpPr>
          <p:cNvPr id="9" name="Weaknesses circle"/>
          <p:cNvSpPr/>
          <p:nvPr/>
        </p:nvSpPr>
        <p:spPr>
          <a:xfrm>
            <a:off x="4709160" y="1143000"/>
            <a:ext cx="457200" cy="457200"/>
          </a:xfrm>
          <a:prstGeom prst="ellipse">
            <a:avLst/>
          </a:prstGeom>
          <a:solidFill>
            <a:schemeClr val="accent2"/>
          </a:solidFill>
          <a:ln/>
        </p:spPr>
      </p:sp>
      <p:pic>
        <p:nvPicPr>
          <p:cNvPr id="10" name="Weaknesses icon" descr="preencoded.png">    </p:cNvPr>
          <p:cNvPicPr>
            <a:picLocks noChangeAspect="1"/>
          </p:cNvPicPr>
          <p:nvPr/>
        </p:nvPicPr>
        <p:blipFill>
          <a:blip r:embed="rId3"/>
          <a:stretch>
            <a:fillRect/>
          </a:stretch>
        </p:blipFill>
        <p:spPr>
          <a:xfrm>
            <a:off x="4823460" y="1257300"/>
            <a:ext cx="228600" cy="228600"/>
          </a:xfrm>
          <a:prstGeom prst="rect">
            <a:avLst/>
          </a:prstGeom>
        </p:spPr>
      </p:pic>
      <p:sp>
        <p:nvSpPr>
          <p:cNvPr id="11" name="Text 6"/>
          <p:cNvSpPr txBox="1"/>
          <p:nvPr/>
        </p:nvSpPr>
        <p:spPr>
          <a:xfrm>
            <a:off x="5303520" y="1143000"/>
            <a:ext cx="3200400" cy="457200"/>
          </a:xfrm>
          <a:prstGeom prst="rect">
            <a:avLst/>
          </a:prstGeom>
          <a:noFill/>
          <a:ln/>
        </p:spPr>
        <p:txBody>
          <a:bodyPr wrap="square" lIns="0" tIns="0" rIns="0" bIns="0" rtlCol="0" anchor="ctr"/>
          <a:lstStyle/>
          <a:p>
            <a:pPr indent="0" marL="0">
              <a:buNone/>
            </a:pPr>
            <a:r>
              <a:rPr lang="en-US" sz="1800" b="1" dirty="0">
                <a:solidFill>
                  <a:schemeClr val="tx2"/>
                </a:solidFill>
              </a:rPr>
              <a:t>Weaknesses</a:t>
            </a:r>
            <a:endParaRPr lang="en-US" sz="1800" dirty="0"/>
          </a:p>
        </p:txBody>
      </p:sp>
      <p:sp>
        <p:nvSpPr>
          <p:cNvPr id="12" name="Text 7"/>
          <p:cNvSpPr txBox="1"/>
          <p:nvPr/>
        </p:nvSpPr>
        <p:spPr>
          <a:xfrm>
            <a:off x="4709160" y="1737360"/>
            <a:ext cx="3886200" cy="2880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Only 31 annual observations for 10 regressors: low statistical power</a:t>
            </a:r>
            <a:endParaRPr lang="en-US" sz="1400" dirty="0"/>
          </a:p>
          <a:p>
            <a:pPr marL="342900" indent="-342900">
              <a:spcAft>
                <a:spcPts val="600"/>
              </a:spcAft>
              <a:buSzPct val="100000"/>
              <a:buChar char="•"/>
            </a:pPr>
            <a:r>
              <a:rPr lang="en-US" sz="1400" dirty="0">
                <a:solidFill>
                  <a:schemeClr val="tx1"/>
                </a:solidFill>
              </a:rPr>
              <a:t>Weak proxies: airfare for migration cost; near-universal literacy for education</a:t>
            </a:r>
            <a:endParaRPr lang="en-US" sz="1400" dirty="0"/>
          </a:p>
          <a:p>
            <a:pPr marL="342900" indent="-342900">
              <a:spcAft>
                <a:spcPts val="600"/>
              </a:spcAft>
              <a:buSzPct val="100000"/>
              <a:buChar char="•"/>
            </a:pPr>
            <a:r>
              <a:rPr lang="en-US" sz="1400" dirty="0">
                <a:solidFill>
                  <a:schemeClr val="tx1"/>
                </a:solidFill>
              </a:rPr>
              <a:t>Push factors only; destination demand (e.g. Middle East) is ignored</a:t>
            </a:r>
            <a:endParaRPr lang="en-US" sz="1400" dirty="0"/>
          </a:p>
          <a:p>
            <a:pPr marL="342900" indent="-342900">
              <a:spcAft>
                <a:spcPts val="600"/>
              </a:spcAft>
              <a:buSzPct val="100000"/>
              <a:buChar char="•"/>
            </a:pPr>
            <a:r>
              <a:rPr lang="en-US" sz="1400" dirty="0">
                <a:solidFill>
                  <a:schemeClr val="tx1"/>
                </a:solidFill>
              </a:rPr>
              <a:t>Literacy result blamed on low-skilled migrants, yet the paper cites rising professional outflows</a:t>
            </a:r>
            <a:endParaRPr lang="en-US" sz="1400" dirty="0"/>
          </a:p>
          <a:p>
            <a:pPr marL="342900" indent="-342900">
              <a:spcAft>
                <a:spcPts val="600"/>
              </a:spcAft>
              <a:buSzPct val="100000"/>
              <a:buChar char="•"/>
            </a:pPr>
            <a:r>
              <a:rPr lang="en-US" sz="1400" dirty="0">
                <a:solidFill>
                  <a:schemeClr val="tx1"/>
                </a:solidFill>
              </a:rPr>
              <a:t>Income fails the P–P test even in differences; no structural-break tests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1143000" y="320040"/>
            <a:ext cx="7543800" cy="640080"/>
          </a:xfrm>
          <a:prstGeom prst="rect">
            <a:avLst/>
          </a:prstGeom>
          <a:noFill/>
          <a:ln/>
        </p:spPr>
        <p:txBody>
          <a:bodyPr wrap="square" lIns="0" tIns="0" rIns="0" bIns="0" rtlCol="0" anchor="ctr"/>
          <a:lstStyle/>
          <a:p>
            <a:pPr algn="l" indent="0" marL="0">
              <a:buNone/>
            </a:pPr>
            <a:r>
              <a:rPr lang="en-US" sz="2800" b="1" dirty="0">
                <a:solidFill>
                  <a:schemeClr val="tx2"/>
                </a:solidFill>
              </a:rPr>
              <a:t>Limitations and areas for further research</a:t>
            </a:r>
            <a:endParaRPr lang="en-US" sz="2800" dirty="0"/>
          </a:p>
        </p:txBody>
      </p:sp>
      <p:sp>
        <p:nvSpPr>
          <p:cNvPr id="3" name="Badge"/>
          <p:cNvSpPr/>
          <p:nvPr/>
        </p:nvSpPr>
        <p:spPr>
          <a:xfrm>
            <a:off x="457200" y="365760"/>
            <a:ext cx="548640" cy="548640"/>
          </a:xfrm>
          <a:prstGeom prst="ellipse">
            <a:avLst/>
          </a:prstGeom>
          <a:solidFill>
            <a:schemeClr val="accent1"/>
          </a:solidFill>
          <a:ln/>
        </p:spPr>
      </p:sp>
      <p:sp>
        <p:nvSpPr>
          <p:cNvPr id="4" name="Badge number"/>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2200" b="1" dirty="0">
                <a:solidFill>
                  <a:schemeClr val="tx2"/>
                </a:solidFill>
              </a:rPr>
              <a:t>6</a:t>
            </a:r>
            <a:endParaRPr lang="en-US" sz="2200" dirty="0"/>
          </a:p>
        </p:txBody>
      </p:sp>
      <p:sp>
        <p:nvSpPr>
          <p:cNvPr id="5" name="Limitations card"/>
          <p:cNvSpPr/>
          <p:nvPr/>
        </p:nvSpPr>
        <p:spPr>
          <a:xfrm>
            <a:off x="457200" y="1188720"/>
            <a:ext cx="3840480" cy="3383280"/>
          </a:xfrm>
          <a:prstGeom prst="roundRect">
            <a:avLst>
              <a:gd name="adj" fmla="val 2162"/>
            </a:avLst>
          </a:prstGeom>
          <a:solidFill>
            <a:schemeClr val="bg2"/>
          </a:solidFill>
          <a:ln/>
        </p:spPr>
      </p:sp>
      <p:sp>
        <p:nvSpPr>
          <p:cNvPr id="6" name="Text 4"/>
          <p:cNvSpPr txBox="1"/>
          <p:nvPr/>
        </p:nvSpPr>
        <p:spPr>
          <a:xfrm>
            <a:off x="731520" y="1325880"/>
            <a:ext cx="3383280" cy="365760"/>
          </a:xfrm>
          <a:prstGeom prst="rect">
            <a:avLst/>
          </a:prstGeom>
          <a:noFill/>
          <a:ln/>
        </p:spPr>
        <p:txBody>
          <a:bodyPr wrap="square" lIns="0" tIns="0" rIns="0" bIns="0" rtlCol="0" anchor="t"/>
          <a:lstStyle/>
          <a:p>
            <a:pPr indent="0" marL="0">
              <a:buNone/>
            </a:pPr>
            <a:r>
              <a:rPr lang="en-US" sz="1700" b="1" dirty="0">
                <a:solidFill>
                  <a:schemeClr val="tx2"/>
                </a:solidFill>
              </a:rPr>
              <a:t>Limitations the authors identify</a:t>
            </a:r>
            <a:endParaRPr lang="en-US" sz="1700" dirty="0"/>
          </a:p>
        </p:txBody>
      </p:sp>
      <p:sp>
        <p:nvSpPr>
          <p:cNvPr id="7" name="Text 5"/>
          <p:cNvSpPr txBox="1"/>
          <p:nvPr/>
        </p:nvSpPr>
        <p:spPr>
          <a:xfrm>
            <a:off x="731520" y="1783080"/>
            <a:ext cx="338328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Data problems in how migration statistics are collected and compiled</a:t>
            </a:r>
            <a:endParaRPr lang="en-US" sz="1400" dirty="0"/>
          </a:p>
          <a:p>
            <a:pPr marL="342900" indent="-342900">
              <a:spcAft>
                <a:spcPts val="800"/>
              </a:spcAft>
              <a:buSzPct val="100000"/>
              <a:buChar char="•"/>
            </a:pPr>
            <a:r>
              <a:rPr lang="en-US" sz="1400" dirty="0">
                <a:solidFill>
                  <a:schemeClr val="tx1"/>
                </a:solidFill>
              </a:rPr>
              <a:t>Airfare captures only the minimum cost of migrating</a:t>
            </a:r>
            <a:endParaRPr lang="en-US" sz="1400" dirty="0"/>
          </a:p>
          <a:p>
            <a:pPr marL="342900" indent="-342900">
              <a:spcAft>
                <a:spcPts val="800"/>
              </a:spcAft>
              <a:buSzPct val="100000"/>
              <a:buChar char="•"/>
            </a:pPr>
            <a:r>
              <a:rPr lang="en-US" sz="1400" dirty="0">
                <a:solidFill>
                  <a:schemeClr val="tx1"/>
                </a:solidFill>
              </a:rPr>
              <a:t>Population-density result is hard to explain</a:t>
            </a:r>
            <a:endParaRPr lang="en-US" sz="1400" dirty="0"/>
          </a:p>
          <a:p>
            <a:pPr marL="342900" indent="-342900">
              <a:spcAft>
                <a:spcPts val="800"/>
              </a:spcAft>
              <a:buSzPct val="100000"/>
              <a:buChar char="•"/>
            </a:pPr>
            <a:r>
              <a:rPr lang="en-US" sz="1400" dirty="0">
                <a:solidFill>
                  <a:schemeClr val="tx1"/>
                </a:solidFill>
              </a:rPr>
              <a:t>Data cannot confirm the political-instability story</a:t>
            </a:r>
            <a:endParaRPr lang="en-US" sz="1400" dirty="0"/>
          </a:p>
        </p:txBody>
      </p:sp>
      <p:sp>
        <p:nvSpPr>
          <p:cNvPr id="8" name="Text 6"/>
          <p:cNvSpPr txBox="1"/>
          <p:nvPr/>
        </p:nvSpPr>
        <p:spPr>
          <a:xfrm>
            <a:off x="4572000" y="1234440"/>
            <a:ext cx="4114800" cy="365760"/>
          </a:xfrm>
          <a:prstGeom prst="rect">
            <a:avLst/>
          </a:prstGeom>
          <a:noFill/>
          <a:ln/>
        </p:spPr>
        <p:txBody>
          <a:bodyPr wrap="square" lIns="0" tIns="0" rIns="0" bIns="0" rtlCol="0" anchor="t"/>
          <a:lstStyle/>
          <a:p>
            <a:pPr indent="0" marL="0">
              <a:buNone/>
            </a:pPr>
            <a:r>
              <a:rPr lang="en-US" sz="1700" b="1" dirty="0">
                <a:solidFill>
                  <a:schemeClr val="tx2"/>
                </a:solidFill>
              </a:rPr>
              <a:t>Future research opportunities</a:t>
            </a:r>
            <a:endParaRPr lang="en-US" sz="1700" dirty="0"/>
          </a:p>
        </p:txBody>
      </p:sp>
      <p:sp>
        <p:nvSpPr>
          <p:cNvPr id="9" name="Text 7"/>
          <p:cNvSpPr txBox="1"/>
          <p:nvPr/>
        </p:nvSpPr>
        <p:spPr>
          <a:xfrm>
            <a:off x="4572000" y="1737360"/>
            <a:ext cx="365760" cy="54864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1</a:t>
            </a:r>
            <a:endParaRPr lang="en-US" sz="2400" dirty="0"/>
          </a:p>
        </p:txBody>
      </p:sp>
      <p:sp>
        <p:nvSpPr>
          <p:cNvPr id="10" name="Text 8"/>
          <p:cNvSpPr txBox="1"/>
          <p:nvPr/>
        </p:nvSpPr>
        <p:spPr>
          <a:xfrm>
            <a:off x="4983480" y="1737360"/>
            <a:ext cx="3703320" cy="594360"/>
          </a:xfrm>
          <a:prstGeom prst="rect">
            <a:avLst/>
          </a:prstGeom>
          <a:noFill/>
          <a:ln/>
        </p:spPr>
        <p:txBody>
          <a:bodyPr wrap="square" lIns="0" tIns="0" rIns="0" bIns="0" rtlCol="0" anchor="ctr"/>
          <a:lstStyle/>
          <a:p>
            <a:pPr indent="0" marL="0">
              <a:buNone/>
            </a:pPr>
            <a:r>
              <a:rPr lang="en-US" sz="1400" b="1" dirty="0">
                <a:solidFill>
                  <a:schemeClr val="tx2"/>
                </a:solidFill>
              </a:rPr>
              <a:t>Split the data: </a:t>
            </a:r>
            <a:pPr indent="0" marL="0">
              <a:buNone/>
            </a:pPr>
            <a:r>
              <a:rPr lang="en-US" sz="1400" dirty="0">
                <a:solidFill>
                  <a:schemeClr val="tx1"/>
                </a:solidFill>
              </a:rPr>
              <a:t>temporary vs. permanent, and by skill or occupation</a:t>
            </a:r>
            <a:endParaRPr lang="en-US" sz="1400" dirty="0"/>
          </a:p>
        </p:txBody>
      </p:sp>
      <p:sp>
        <p:nvSpPr>
          <p:cNvPr id="11" name="Text 9"/>
          <p:cNvSpPr txBox="1"/>
          <p:nvPr/>
        </p:nvSpPr>
        <p:spPr>
          <a:xfrm>
            <a:off x="4572000" y="2450592"/>
            <a:ext cx="365760" cy="54864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2</a:t>
            </a:r>
            <a:endParaRPr lang="en-US" sz="2400" dirty="0"/>
          </a:p>
        </p:txBody>
      </p:sp>
      <p:sp>
        <p:nvSpPr>
          <p:cNvPr id="12" name="Text 10"/>
          <p:cNvSpPr txBox="1"/>
          <p:nvPr/>
        </p:nvSpPr>
        <p:spPr>
          <a:xfrm>
            <a:off x="4983480" y="2450592"/>
            <a:ext cx="3703320" cy="594360"/>
          </a:xfrm>
          <a:prstGeom prst="rect">
            <a:avLst/>
          </a:prstGeom>
          <a:noFill/>
          <a:ln/>
        </p:spPr>
        <p:txBody>
          <a:bodyPr wrap="square" lIns="0" tIns="0" rIns="0" bIns="0" rtlCol="0" anchor="ctr"/>
          <a:lstStyle/>
          <a:p>
            <a:pPr indent="0" marL="0">
              <a:buNone/>
            </a:pPr>
            <a:r>
              <a:rPr lang="en-US" sz="1400" b="1" dirty="0">
                <a:solidFill>
                  <a:schemeClr val="tx2"/>
                </a:solidFill>
              </a:rPr>
              <a:t>Add pull factors: </a:t>
            </a:r>
            <a:pPr indent="0" marL="0">
              <a:buNone/>
            </a:pPr>
            <a:r>
              <a:rPr lang="en-US" sz="1400" dirty="0">
                <a:solidFill>
                  <a:schemeClr val="tx1"/>
                </a:solidFill>
              </a:rPr>
              <a:t>bilateral gravity panel with destination wages and demand</a:t>
            </a:r>
            <a:endParaRPr lang="en-US" sz="1400" dirty="0"/>
          </a:p>
        </p:txBody>
      </p:sp>
      <p:sp>
        <p:nvSpPr>
          <p:cNvPr id="13" name="Text 11"/>
          <p:cNvSpPr txBox="1"/>
          <p:nvPr/>
        </p:nvSpPr>
        <p:spPr>
          <a:xfrm>
            <a:off x="4572000" y="3163824"/>
            <a:ext cx="365760" cy="54864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3</a:t>
            </a:r>
            <a:endParaRPr lang="en-US" sz="2400" dirty="0"/>
          </a:p>
        </p:txBody>
      </p:sp>
      <p:sp>
        <p:nvSpPr>
          <p:cNvPr id="14" name="Text 12"/>
          <p:cNvSpPr txBox="1"/>
          <p:nvPr/>
        </p:nvSpPr>
        <p:spPr>
          <a:xfrm>
            <a:off x="4983480" y="3163824"/>
            <a:ext cx="3703320" cy="594360"/>
          </a:xfrm>
          <a:prstGeom prst="rect">
            <a:avLst/>
          </a:prstGeom>
          <a:noFill/>
          <a:ln/>
        </p:spPr>
        <p:txBody>
          <a:bodyPr wrap="square" lIns="0" tIns="0" rIns="0" bIns="0" rtlCol="0" anchor="ctr"/>
          <a:lstStyle/>
          <a:p>
            <a:pPr indent="0" marL="0">
              <a:buNone/>
            </a:pPr>
            <a:r>
              <a:rPr lang="en-US" sz="1400" b="1" dirty="0">
                <a:solidFill>
                  <a:schemeClr val="tx2"/>
                </a:solidFill>
              </a:rPr>
              <a:t>Update and test breaks: </a:t>
            </a:r>
            <a:pPr indent="0" marL="0">
              <a:buNone/>
            </a:pPr>
            <a:r>
              <a:rPr lang="en-US" sz="1400" dirty="0">
                <a:solidFill>
                  <a:schemeClr val="tx1"/>
                </a:solidFill>
              </a:rPr>
              <a:t>extend past 2005; test the 1997 and 2008 crises and COVID-19</a:t>
            </a:r>
            <a:endParaRPr lang="en-US" sz="1400" dirty="0"/>
          </a:p>
        </p:txBody>
      </p:sp>
      <p:sp>
        <p:nvSpPr>
          <p:cNvPr id="15" name="Text 13"/>
          <p:cNvSpPr txBox="1"/>
          <p:nvPr/>
        </p:nvSpPr>
        <p:spPr>
          <a:xfrm>
            <a:off x="4572000" y="3877056"/>
            <a:ext cx="365760" cy="54864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4</a:t>
            </a:r>
            <a:endParaRPr lang="en-US" sz="2400" dirty="0"/>
          </a:p>
        </p:txBody>
      </p:sp>
      <p:sp>
        <p:nvSpPr>
          <p:cNvPr id="16" name="Text 14"/>
          <p:cNvSpPr txBox="1"/>
          <p:nvPr/>
        </p:nvSpPr>
        <p:spPr>
          <a:xfrm>
            <a:off x="4983480" y="3877056"/>
            <a:ext cx="3703320" cy="594360"/>
          </a:xfrm>
          <a:prstGeom prst="rect">
            <a:avLst/>
          </a:prstGeom>
          <a:noFill/>
          <a:ln/>
        </p:spPr>
        <p:txBody>
          <a:bodyPr wrap="square" lIns="0" tIns="0" rIns="0" bIns="0" rtlCol="0" anchor="ctr"/>
          <a:lstStyle/>
          <a:p>
            <a:pPr indent="0" marL="0">
              <a:buNone/>
            </a:pPr>
            <a:r>
              <a:rPr lang="en-US" sz="1400" b="1" dirty="0">
                <a:solidFill>
                  <a:schemeClr val="tx2"/>
                </a:solidFill>
              </a:rPr>
              <a:t>Use micro-data: </a:t>
            </a:r>
            <a:pPr indent="0" marL="0">
              <a:buNone/>
            </a:pPr>
            <a:r>
              <a:rPr lang="en-US" sz="1400" dirty="0">
                <a:solidFill>
                  <a:schemeClr val="tx1"/>
                </a:solidFill>
              </a:rPr>
              <a:t>household surveys to test human-capital selection directly</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554480"/>
          </a:xfrm>
          <a:prstGeom prst="rect">
            <a:avLst/>
          </a:prstGeom>
          <a:noFill/>
          <a:ln/>
        </p:spPr>
        <p:txBody>
          <a:bodyPr wrap="square" lIns="0" tIns="0" rIns="0" bIns="0" rtlCol="0" anchor="b"/>
          <a:lstStyle/>
          <a:p>
            <a:pPr algn="l" indent="0" marL="0">
              <a:buNone/>
            </a:pPr>
            <a:r>
              <a:rPr lang="en-US" sz="3200" b="1" dirty="0">
                <a:solidFill>
                  <a:schemeClr val="bg1"/>
                </a:solidFill>
              </a:rPr>
              <a:t>Takeaway: domestic push factors shape Filipino emigration</a:t>
            </a:r>
            <a:endParaRPr lang="en-US" sz="3200" dirty="0"/>
          </a:p>
        </p:txBody>
      </p:sp>
      <p:sp>
        <p:nvSpPr>
          <p:cNvPr id="3" name="Text 0"/>
          <p:cNvSpPr/>
          <p:nvPr>
            <p:ph idx="101" type="body" hasCustomPrompt="1"/>
          </p:nvPr>
        </p:nvSpPr>
        <p:spPr>
          <a:xfrm>
            <a:off x="548640" y="2971800"/>
            <a:ext cx="8046720" cy="914400"/>
          </a:xfrm>
          <a:prstGeom prst="rect">
            <a:avLst/>
          </a:prstGeom>
          <a:noFill/>
          <a:ln/>
        </p:spPr>
        <p:txBody>
          <a:bodyPr wrap="square" lIns="0" tIns="0" rIns="0" bIns="0" rtlCol="0" anchor="t"/>
          <a:lstStyle/>
          <a:p>
            <a:pPr indent="0" marL="0">
              <a:buNone/>
            </a:pPr>
            <a:r>
              <a:rPr lang="en-US" sz="1600" dirty="0">
                <a:solidFill>
                  <a:schemeClr val="accent5"/>
                </a:solidFill>
              </a:rPr>
              <a:t>Unemployment pushes people out, while education, political events and population density hold them back. The study is useful and policy-relevant, but its small sample, crude proxies and lack of pull factors mean its conclusions should be read with caution.</a:t>
            </a:r>
            <a:endParaRPr lang="en-US" sz="1600" dirty="0"/>
          </a:p>
        </p:txBody>
      </p:sp>
      <p:pic>
        <p:nvPicPr>
          <p:cNvPr id="4" name="Flag icon" descr="preencoded.png">    </p:cNvPr>
          <p:cNvPicPr>
            <a:picLocks noChangeAspect="1"/>
          </p:cNvPicPr>
          <p:nvPr/>
        </p:nvPicPr>
        <p:blipFill>
          <a:blip r:embed="rId1"/>
          <a:stretch>
            <a:fillRect/>
          </a:stretch>
        </p:blipFill>
        <p:spPr>
          <a:xfrm>
            <a:off x="548640" y="548640"/>
            <a:ext cx="502920" cy="502920"/>
          </a:xfrm>
          <a:prstGeom prst="rect">
            <a:avLst/>
          </a:prstGeom>
        </p:spPr>
      </p:pic>
    </p:spTree>
  </p:cSld>
  <p:clrMapOvr>
    <a:masterClrMapping/>
  </p:clrMapOvr>
</p:sld>
</file>

<file path=ppt/theme/theme1.xml><?xml version="1.0" encoding="utf-8"?>
<a:theme xmlns:a="http://schemas.openxmlformats.org/drawingml/2006/main" name="Labour Migration Review">
  <a:themeElements>
    <a:clrScheme name="Labour Migration Review">
      <a:dk1>
        <a:srgbClr val="1B1F24"/>
      </a:dk1>
      <a:lt1>
        <a:srgbClr val="FFFFFF"/>
      </a:lt1>
      <a:dk2>
        <a:srgbClr val="0B3C49"/>
      </a:dk2>
      <a:lt2>
        <a:srgbClr val="EEF3F4"/>
      </a:lt2>
      <a:accent1>
        <a:srgbClr val="E0A43A"/>
      </a:accent1>
      <a:accent2>
        <a:srgbClr val="C8553D"/>
      </a:accent2>
      <a:accent3>
        <a:srgbClr val="2E7D7A"/>
      </a:accent3>
      <a:accent4>
        <a:srgbClr val="6B7B84"/>
      </a:accent4>
      <a:accent5>
        <a:srgbClr val="F2D49B"/>
      </a:accent5>
      <a:accent6>
        <a:srgbClr val="D7E4E6"/>
      </a:accent6>
      <a:hlink>
        <a:srgbClr val="2E7D7A"/>
      </a:hlink>
      <a:folHlink>
        <a:srgbClr val="6B7B84"/>
      </a:folHlink>
    </a:clrScheme>
    <a:fontScheme name="Labour Migration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Critical Review: International Labour Migration in the Philippines</dc:title>
  <dc:subject>PptxGenJS Presentation</dc:subject>
  <dc:creator>Cataytay</dc:creator>
  <cp:lastModifiedBy>Cataytay</cp:lastModifiedBy>
  <cp:revision>1</cp:revision>
  <dcterms:created xsi:type="dcterms:W3CDTF">2026-10-06T19:00:15Z</dcterms:created>
  <dcterms:modified xsi:type="dcterms:W3CDTF">2026-10-06T19:00:15Z</dcterms:modified>
</cp:coreProperties>
</file>